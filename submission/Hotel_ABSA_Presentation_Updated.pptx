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6832c15d5e14ee5" /><Relationship Type="http://schemas.openxmlformats.org/officeDocument/2006/relationships/extended-properties" Target="/docProps/app.xml" Id="R65e94568e66543f8" /><Relationship Type="http://schemas.openxmlformats.org/officeDocument/2006/relationships/officeDocument" Target="/ppt/presentation.xml" Id="R0589cb9e16fe4e4e" /></Relationships>
</file>

<file path=ppt/presentation.xml><?xml version="1.0" encoding="utf-8"?>
<p:presentation xmlns:p="http://schemas.openxmlformats.org/presentationml/2006/main">
  <p:sldMasterIdLst>
    <p:sldMasterId xmlns:r="http://schemas.openxmlformats.org/officeDocument/2006/relationships" id="2147483648" r:id="R02b4fe0b80ad43a1"/>
  </p:sldMasterIdLst>
  <p:notesMasterIdLst>
    <p:notesMasterId xmlns:r="http://schemas.openxmlformats.org/officeDocument/2006/relationships" r:id="R93bb5ba00c5348f0"/>
  </p:notesMasterIdLst>
  <p:sldIdLst>
    <p:sldId xmlns:r="http://schemas.openxmlformats.org/officeDocument/2006/relationships" id="256" r:id="R8f49f3344d7444e3"/>
    <p:sldId xmlns:r="http://schemas.openxmlformats.org/officeDocument/2006/relationships" id="257" r:id="R46b8e053363f4744"/>
    <p:sldId xmlns:r="http://schemas.openxmlformats.org/officeDocument/2006/relationships" id="258" r:id="Reacabca7e2fc49ee"/>
    <p:sldId xmlns:r="http://schemas.openxmlformats.org/officeDocument/2006/relationships" id="259" r:id="Rc79d2259e2f04e6c"/>
    <p:sldId xmlns:r="http://schemas.openxmlformats.org/officeDocument/2006/relationships" id="260" r:id="R36d6e0a7934b44ff"/>
    <p:sldId xmlns:r="http://schemas.openxmlformats.org/officeDocument/2006/relationships" id="261" r:id="R55e41726723a4b00"/>
    <p:sldId xmlns:r="http://schemas.openxmlformats.org/officeDocument/2006/relationships" id="262" r:id="R685a5273453f405b"/>
    <p:sldId xmlns:r="http://schemas.openxmlformats.org/officeDocument/2006/relationships" id="263" r:id="Rafe0330f09ad488d"/>
    <p:sldId xmlns:r="http://schemas.openxmlformats.org/officeDocument/2006/relationships" id="264" r:id="Rf9be350ab92549fe"/>
    <p:sldId xmlns:r="http://schemas.openxmlformats.org/officeDocument/2006/relationships" id="265" r:id="Rc65d4cb62d3d4933"/>
    <p:sldId xmlns:r="http://schemas.openxmlformats.org/officeDocument/2006/relationships" id="266" r:id="R8781f782426a4c55"/>
    <p:sldId xmlns:r="http://schemas.openxmlformats.org/officeDocument/2006/relationships" id="267" r:id="R006f18d81ef143a1"/>
    <p:sldId xmlns:r="http://schemas.openxmlformats.org/officeDocument/2006/relationships" id="268" r:id="Rdf125b8bdf4b41a3"/>
    <p:sldId xmlns:r="http://schemas.openxmlformats.org/officeDocument/2006/relationships" id="269" r:id="R6e86e72653c74a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fa8f821c6c42a1" /><Relationship Type="http://schemas.openxmlformats.org/officeDocument/2006/relationships/slideMaster" Target="/ppt/slideMasters/slideMaster1.xml" Id="R02b4fe0b80ad43a1" /><Relationship Type="http://schemas.openxmlformats.org/officeDocument/2006/relationships/notesMaster" Target="/ppt/notesMasters/notesMaster1.xml" Id="R93bb5ba00c5348f0" /><Relationship Type="http://schemas.openxmlformats.org/officeDocument/2006/relationships/presProps" Target="/ppt/presProps.xml" Id="R44eb779a07064820" /><Relationship Type="http://schemas.openxmlformats.org/officeDocument/2006/relationships/tableStyles" Target="/ppt/tableStyles.xml" Id="Re76218f414db4f02" /><Relationship Type="http://schemas.openxmlformats.org/officeDocument/2006/relationships/slide" Target="/ppt/slides/slide1.xml" Id="R8f49f3344d7444e3" /><Relationship Type="http://schemas.openxmlformats.org/officeDocument/2006/relationships/slide" Target="/ppt/slides/slide2.xml" Id="R46b8e053363f4744" /><Relationship Type="http://schemas.openxmlformats.org/officeDocument/2006/relationships/slide" Target="/ppt/slides/slide3.xml" Id="Reacabca7e2fc49ee" /><Relationship Type="http://schemas.openxmlformats.org/officeDocument/2006/relationships/slide" Target="/ppt/slides/slide4.xml" Id="Rc79d2259e2f04e6c" /><Relationship Type="http://schemas.openxmlformats.org/officeDocument/2006/relationships/slide" Target="/ppt/slides/slide5.xml" Id="R36d6e0a7934b44ff" /><Relationship Type="http://schemas.openxmlformats.org/officeDocument/2006/relationships/slide" Target="/ppt/slides/slide6.xml" Id="R55e41726723a4b00" /><Relationship Type="http://schemas.openxmlformats.org/officeDocument/2006/relationships/slide" Target="/ppt/slides/slide7.xml" Id="R685a5273453f405b" /><Relationship Type="http://schemas.openxmlformats.org/officeDocument/2006/relationships/slide" Target="/ppt/slides/slide8.xml" Id="Rafe0330f09ad488d" /><Relationship Type="http://schemas.openxmlformats.org/officeDocument/2006/relationships/slide" Target="/ppt/slides/slide9.xml" Id="Rf9be350ab92549fe" /><Relationship Type="http://schemas.openxmlformats.org/officeDocument/2006/relationships/slide" Target="/ppt/slides/slide10.xml" Id="Rc65d4cb62d3d4933" /><Relationship Type="http://schemas.openxmlformats.org/officeDocument/2006/relationships/slide" Target="/ppt/slides/slide11.xml" Id="R8781f782426a4c55" /><Relationship Type="http://schemas.openxmlformats.org/officeDocument/2006/relationships/slide" Target="/ppt/slides/slide12.xml" Id="R006f18d81ef143a1" /><Relationship Type="http://schemas.openxmlformats.org/officeDocument/2006/relationships/slide" Target="/ppt/slides/slide13.xml" Id="Rdf125b8bdf4b41a3" /><Relationship Type="http://schemas.openxmlformats.org/officeDocument/2006/relationships/slide" Target="/ppt/slides/slide14.xml" Id="R6e86e72653c74a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7bac018e9344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c67ac23491447a" /><Relationship Type="http://schemas.openxmlformats.org/officeDocument/2006/relationships/notesMaster" Target="/ppt/notesMasters/notesMaster1.xml" Id="R7c07635b143640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2d7a3fa15841aa" /><Relationship Type="http://schemas.openxmlformats.org/officeDocument/2006/relationships/notesMaster" Target="/ppt/notesMasters/notesMaster1.xml" Id="R226eef692f9e4b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989c860d4840cc" /><Relationship Type="http://schemas.openxmlformats.org/officeDocument/2006/relationships/notesMaster" Target="/ppt/notesMasters/notesMaster1.xml" Id="R4737db6e384c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24f698ad894a2b" /><Relationship Type="http://schemas.openxmlformats.org/officeDocument/2006/relationships/notesMaster" Target="/ppt/notesMasters/notesMaster1.xml" Id="Rd9ebbc9fad3640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80675b7bff4e4f" /><Relationship Type="http://schemas.openxmlformats.org/officeDocument/2006/relationships/notesMaster" Target="/ppt/notesMasters/notesMaster1.xml" Id="Rc42c588234124d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f4716f757742ca" /><Relationship Type="http://schemas.openxmlformats.org/officeDocument/2006/relationships/notesMaster" Target="/ppt/notesMasters/notesMaster1.xml" Id="R99be7d4a737e45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ce6bafb211490a" /><Relationship Type="http://schemas.openxmlformats.org/officeDocument/2006/relationships/notesMaster" Target="/ppt/notesMasters/notesMaster1.xml" Id="R12930152f99941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6eb7f61b4449df" /><Relationship Type="http://schemas.openxmlformats.org/officeDocument/2006/relationships/notesMaster" Target="/ppt/notesMasters/notesMaster1.xml" Id="R67c80ff9e32a4e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463f7674e747c3" /><Relationship Type="http://schemas.openxmlformats.org/officeDocument/2006/relationships/notesMaster" Target="/ppt/notesMasters/notesMaster1.xml" Id="Rd723f92dffd043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826e0eb2a14a4f" /><Relationship Type="http://schemas.openxmlformats.org/officeDocument/2006/relationships/notesMaster" Target="/ppt/notesMasters/notesMaster1.xml" Id="R4a933059b7a24b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f1a73072d24619" /><Relationship Type="http://schemas.openxmlformats.org/officeDocument/2006/relationships/notesMaster" Target="/ppt/notesMasters/notesMaster1.xml" Id="Rb62158101d2541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13dddd42744a3b" /><Relationship Type="http://schemas.openxmlformats.org/officeDocument/2006/relationships/notesMaster" Target="/ppt/notesMasters/notesMaster1.xml" Id="Rcea1a54a919948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b653c8119341d8" /><Relationship Type="http://schemas.openxmlformats.org/officeDocument/2006/relationships/notesMaster" Target="/ppt/notesMasters/notesMaster1.xml" Id="R81c9185be09b49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bd5e6c05f543e2" /><Relationship Type="http://schemas.openxmlformats.org/officeDocument/2006/relationships/notesMaster" Target="/ppt/notesMasters/notesMaster1.xml" Id="R3894a8b89c5f42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Supplied Guidelines and Instructions_Mini Project Assignment.pdf. Write-up heading says one page; body requests two pages. Followed detailed two-page instruction.</a:t>
            </a:r>
          </a:p>
          <a:p xmlns:a="http://schemas.openxmlformats.org/drawingml/2006/main">
            <a:r>
              <a:t>Team details supplied directly by the user. Presentation styling draws on the supplied RecurJail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Yangyang Yu. Aspect-based Sentiment Analysis on Hotel Reviews. Stanford CS229, Spring 2016. Supplied 032 (1).pdf and 032.pdf. https://cs229.stanford.edu/proj2016spr/report/032.pdf</a:t>
            </a:r>
          </a:p>
          <a:p xmlns:a="http://schemas.openxmlformats.org/drawingml/2006/main">
            <a:r>
              <a:t>The review example and expected interpretations below are illustrative, not model predictions or measured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Yangyang Yu. Aspect-based Sentiment Analysis on Hotel Reviews. Stanford CS229, Spring 2016. Supplied 032 (1).pdf and 032.pdf. https://cs229.stanford.edu/proj2016spr/report/032.pdf</a:t>
            </a:r>
          </a:p>
          <a:p xmlns:a="http://schemas.openxmlformats.org/drawingml/2006/main">
            <a:r>
              <a:t>The historical findings are not this project’s results. The uploaded poster summarizes feature extraction, class balancing, and learning algorithms.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Junichiro Niimi. Hotel Review Dataset (English), 2024. https://huggingface.co/datasets/jniimi/tripadvisor-review-rating ; original paper: Li, Ott, Cardie (2013), https://aclanthology.org/D13-1199/</a:t>
            </a:r>
          </a:p>
          <a:p xmlns:a="http://schemas.openxmlformats.org/drawingml/2006/main">
            <a:r>
              <a:t>Source file: 201,295 reviews. Seed-42 random sample after normalized-text duplicate removal. Missing service and business_service are never assigned overall ratings.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scikit-learn: https://scikit-learn.org/stable/modules/generated/sklearn.svm.LinearSVC.html ; https://scikit-learn.org/stable/modules/generated/sklearn.metrics.f1_score.html ; https://scikit-learn.org/stable/common_pitfalls.html</a:t>
            </a:r>
          </a:p>
          <a:p xmlns:a="http://schemas.openxmlformats.org/drawingml/2006/main">
            <a:r>
              <a:t>Implementation: scripts/prepare_data.py, train.py. Negation words remain in the text. All feature models fit the training partition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Yangyang Yu. Aspect-based Sentiment Analysis on Hotel Reviews. Stanford CS229, Spring 2016. Supplied 032 (1).pdf and 032.pdf. https://cs229.stanford.edu/proj2016spr/report/032.pdf</a:t>
            </a:r>
          </a:p>
          <a:p xmlns:a="http://schemas.openxmlformats.org/drawingml/2006/main">
            <a:r>
              <a:t>scikit-learn: https://scikit-learn.org/stable/modules/generated/sklearn.svm.LinearSVC.html ; https://scikit-learn.org/stable/modules/generated/sklearn.metrics.f1_score.html ; https://scikit-learn.org/stable/common_pitfalls.html</a:t>
            </a:r>
          </a:p>
          <a:p xmlns:a="http://schemas.openxmlformats.org/drawingml/2006/main">
            <a:r>
              <a:t>Ridge is a regularized linear regression comparison and is evaluated on ratings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by this project. HotelReviewABSA/results/metrics.json and model_comparison.csv, fixed sample SHA-256 f022d35c00272d62a063091b6e021362e55ed1c05b1f1ad9bbd111751939555a.</a:t>
            </a:r>
          </a:p>
          <a:p xmlns:a="http://schemas.openxmlformats.org/drawingml/2006/main">
            <a:r>
              <a:t>scikit-learn: https://scikit-learn.org/stable/modules/generated/sklearn.svm.LinearSVC.html ; https://scikit-learn.org/stable/modules/generated/sklearn.metrics.f1_score.html ; https://scikit-learn.org/stable/common_pitfalls.html</a:t>
            </a:r>
          </a:p>
          <a:p xmlns:a="http://schemas.openxmlformats.org/drawingml/2006/main">
            <a:r>
              <a:t>Reviewer groups are disjoint. The redistributed IDs do not establish verified hotel grouping. These metrics evaluate full-review inference. The corrected excerpt inference needs separate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by this project. HotelReviewABSA/results/metrics.json and model_comparison.csv, fixed sample SHA-256 f022d35c00272d62a063091b6e021362e55ed1c05b1f1ad9bbd111751939555a.</a:t>
            </a:r>
          </a:p>
          <a:p xmlns:a="http://schemas.openxmlformats.org/drawingml/2006/main">
            <a:r>
              <a:t>Metric: three-class macro-F1, computed separately per aspect on 4,007 test reviews using full review text. Selected models chosen by validation macro-F1. Majority baseline uses training majority class. Mean aspect accuracy = 81.1%, mean macro-F1 = 0.602, excluding overall. Excerpt inference has no measured general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by this project. HotelReviewABSA/results/metrics.json and model_comparison.csv, fixed sample SHA-256 f022d35c00272d62a063091b6e021362e55ed1c05b1f1ad9bbd111751939555a.</a:t>
            </a:r>
          </a:p>
          <a:p xmlns:a="http://schemas.openxmlformats.org/drawingml/2006/main">
            <a:r>
              <a:t>Exact rating accuracy means correct 1-5 class after clipping and rounding for regression. MAE uses continuous clipped regression output where applicable. Selected rating models are separate from sentiment models. These metrics evaluate full review input, not the corrected excerpt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by this project. HotelReviewABSA/results/metrics.json and model_comparison.csv, fixed sample SHA-256 f022d35c00272d62a063091b6e021362e55ed1c05b1f1ad9bbd111751939555a.</a:t>
            </a:r>
          </a:p>
          <a:p xmlns:a="http://schemas.openxmlformats.org/drawingml/2006/main">
            <a:r>
              <a:t>Location sentiment accuracy falls below majority baseline but macro-F1 improves. This is an observed result, not a general claim that every aspect model beats baseline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locally verified project browser demo, app.py and web/index.html. Sample reviews are illustrative. The corrected inference uses matching excerpts for mentioned aspects, with full review text for overall and optional unmentioned-aspect estimates. Test metrics still evaluate the original full-review baseline.</a:t>
            </a:r>
          </a:p>
          <a:p xmlns:a="http://schemas.openxmlformats.org/drawingml/2006/main">
            <a:r>
              <a:t>Use submission/DEMO_AND_VIVA.md for the demonstration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Locally measured before/after predictions on the user-reported illustrative review: Our room was spotless and spacious. We did not sleep well in the uncomfortable bed. The location was perfect for walking around town, and the hotel was excellent value for money.</a:t>
            </a:r>
          </a:p>
          <a:p xmlns:a="http://schemas.openxmlformats.org/drawingml/2006/main">
            <a:r>
              <a:t>Same fitted models. Before: complete review for every target. After: matching aspect excerpts. These example outputs and the 15 passing regression/API checks do not measure general excerpt-inference accuracy. Full-review test metrics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by this project. HotelReviewABSA/results/metrics.json and model_comparison.csv, fixed sample SHA-256 f022d35c00272d62a063091b6e021362e55ed1c05b1f1ad9bbd111751939555a.</a:t>
            </a:r>
          </a:p>
          <a:p xmlns:a="http://schemas.openxmlformats.org/drawingml/2006/main">
            <a:r>
              <a:t>Junichiro Niimi. Hotel Review Dataset (English), 2024. https://huggingface.co/datasets/jniimi/tripadvisor-review-rating ; original paper: Li, Ott, Cardie (2013), https://aclanthology.org/D13-1199/</a:t>
            </a:r>
          </a:p>
          <a:p xmlns:a="http://schemas.openxmlformats.org/drawingml/2006/main">
            <a:r>
              <a:t>Keyword extraction has not been evaluated against sentence-level aspect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Yangyang Yu. Aspect-based Sentiment Analysis on Hotel Reviews. Stanford CS229, Spring 2016. Supplied 032 (1).pdf and 032.pdf. https://cs229.stanford.edu/proj2016spr/report/032.pdf</a:t>
            </a:r>
          </a:p>
          <a:p xmlns:a="http://schemas.openxmlformats.org/drawingml/2006/main">
            <a:r>
              <a:t>Junichiro Niimi. Hotel Review Dataset (English), 2024. https://huggingface.co/datasets/jniimi/tripadvisor-review-rating ; original paper: Li, Ott, Cardie (2013), https://aclanthology.org/D13-1199/</a:t>
            </a:r>
          </a:p>
          <a:p xmlns:a="http://schemas.openxmlformats.org/drawingml/2006/main">
            <a:r>
              <a:t>scikit-learn: https://scikit-learn.org/stable/modules/generated/sklearn.svm.LinearSVC.html ; https://scikit-learn.org/stable/modules/generated/sklearn.metrics.f1_score.html ; https://scikit-learn.org/stable/common_pitfalls.html</a:t>
            </a:r>
          </a:p>
          <a:p xmlns:a="http://schemas.openxmlformats.org/drawingml/2006/main">
            <a:r>
              <a:t>Supplied Guidelines and Instructions_Mini Project Assignment.pdf. Write-up heading says one page; body requests two pages. Followed detailed two-page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c8d10cf51645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fcc6ff002d4b8f" /><Relationship Type="http://schemas.openxmlformats.org/officeDocument/2006/relationships/slideLayout" Target="/ppt/slideLayouts/slideLayout1.xml" Id="R3e90f5f3721e4c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90f5f3721e4c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888e66dfd24fa9" /><Relationship Type="http://schemas.openxmlformats.org/officeDocument/2006/relationships/notesSlide" Target="/ppt/notesSlides/notesSlide1.xml" Id="R8a586a51892849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575b791f2f4b67" /><Relationship Type="http://schemas.openxmlformats.org/officeDocument/2006/relationships/notesSlide" Target="/ppt/notesSlides/notesSlide2.xml" Id="Rc02308aa2cc44b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244a1f338d4eb7" /><Relationship Type="http://schemas.openxmlformats.org/officeDocument/2006/relationships/notesSlide" Target="/ppt/notesSlides/notesSlide3.xml" Id="R87572f64315944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8441ee81f0470e" /><Relationship Type="http://schemas.openxmlformats.org/officeDocument/2006/relationships/notesSlide" Target="/ppt/notesSlides/notesSlide4.xml" Id="R47009650d2c74b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61f5c06b744b1b" /><Relationship Type="http://schemas.openxmlformats.org/officeDocument/2006/relationships/notesSlide" Target="/ppt/notesSlides/notesSlide5.xml" Id="R22d5915263b541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32a5ffaa214a70" /><Relationship Type="http://schemas.openxmlformats.org/officeDocument/2006/relationships/notesSlide" Target="/ppt/notesSlides/notesSlide6.xml" Id="R4dabb2ef935b48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5670cf9ad34e24" /><Relationship Type="http://schemas.openxmlformats.org/officeDocument/2006/relationships/notesSlide" Target="/ppt/notesSlides/notesSlide7.xml" Id="R06b8947c7f9b47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1f3683d27745eb" /><Relationship Type="http://schemas.openxmlformats.org/officeDocument/2006/relationships/chart" Target="/ppt/slides/charts/chart1.xml" Id="R6aa2a3d66d2b4ac8" /><Relationship Type="http://schemas.openxmlformats.org/officeDocument/2006/relationships/notesSlide" Target="/ppt/notesSlides/notesSlide8.xml" Id="Rc05e95f56f014d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365d1fd33c4708" /><Relationship Type="http://schemas.openxmlformats.org/officeDocument/2006/relationships/notesSlide" Target="/ppt/notesSlides/notesSlide9.xml" Id="R18eb2c1aef344f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71ff8a2b3a46ec" /><Relationship Type="http://schemas.openxmlformats.org/officeDocument/2006/relationships/notesSlide" Target="/ppt/notesSlides/notesSlide10.xml" Id="R8d67d49a567e47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0c5016e30046c2" /><Relationship Type="http://schemas.openxmlformats.org/officeDocument/2006/relationships/notesSlide" Target="/ppt/notesSlides/notesSlide11.xml" Id="R6313311780c549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eccdb6ed5045a4" /><Relationship Type="http://schemas.openxmlformats.org/officeDocument/2006/relationships/notesSlide" Target="/ppt/notesSlides/notesSlide12.xml" Id="R5b6aceafc3fe41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d1c99fee6f468c" /><Relationship Type="http://schemas.openxmlformats.org/officeDocument/2006/relationships/notesSlide" Target="/ppt/notesSlides/notesSlide13.xml" Id="Red7c30cbf25b44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c2a14fe55f4975" /><Relationship Type="http://schemas.openxmlformats.org/officeDocument/2006/relationships/notesSlide" Target="/ppt/notesSlides/notesSlide14.xml" Id="R9179a6f4c20546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Selected model</c:v>
          </c:tx>
          <c:spPr>
            <a:solidFill xmlns:a="http://schemas.openxmlformats.org/drawingml/2006/main">
              <a:srgbClr val="C65A2B"/>
            </a:solidFill>
          </c:spPr>
          <c:cat>
            <c:strRef>
              <c:f>'Chart Data'!$A$2:$A$6</c:f>
              <c:strCache>
                <c:ptCount val="5"/>
                <c:pt idx="0">
                  <c:v>Rooms</c:v>
                </c:pt>
                <c:pt idx="1">
                  <c:v>Location</c:v>
                </c:pt>
                <c:pt idx="2">
                  <c:v>Value</c:v>
                </c:pt>
                <c:pt idx="3">
                  <c:v>Cleanliness</c:v>
                </c:pt>
                <c:pt idx="4">
                  <c:v>Sleep quality</c:v>
                </c:pt>
              </c:strCache>
            </c:strRef>
          </c:cat>
          <c:val>
            <c:numRef>
              <c:f>'Chart Data'!$B$2:$B$6</c:f>
              <c:numCache>
                <c:formatCode>0.000</c:formatCode>
                <c:ptCount val="5"/>
                <c:pt idx="0">
                  <c:v>0.655</c:v>
                </c:pt>
                <c:pt idx="1">
                  <c:v>0.513</c:v>
                </c:pt>
                <c:pt idx="2">
                  <c:v>0.617</c:v>
                </c:pt>
                <c:pt idx="3">
                  <c:v>0.624</c:v>
                </c:pt>
                <c:pt idx="4">
                  <c:v>0.599</c:v>
                </c:pt>
              </c:numCache>
            </c:numRef>
          </c:val>
        </c:ser>
        <c:ser>
          <c:idx val="1"/>
          <c:order val="1"/>
          <c:tx>
            <c:v>Majority baseline</c:v>
          </c:tx>
          <c:spPr>
            <a:solidFill xmlns:a="http://schemas.openxmlformats.org/drawingml/2006/main">
              <a:srgbClr val="C8BCB4"/>
            </a:solidFill>
          </c:spPr>
          <c:cat>
            <c:strRef>
              <c:f>'Chart Data'!$C$2:$C$6</c:f>
              <c:strCache>
                <c:ptCount val="5"/>
                <c:pt idx="0">
                  <c:v>Rooms</c:v>
                </c:pt>
                <c:pt idx="1">
                  <c:v>Location</c:v>
                </c:pt>
                <c:pt idx="2">
                  <c:v>Value</c:v>
                </c:pt>
                <c:pt idx="3">
                  <c:v>Cleanliness</c:v>
                </c:pt>
                <c:pt idx="4">
                  <c:v>Sleep quality</c:v>
                </c:pt>
              </c:strCache>
            </c:strRef>
          </c:cat>
          <c:val>
            <c:numRef>
              <c:f>'Chart Data'!$D$2:$D$6</c:f>
              <c:numCache>
                <c:formatCode>0.000</c:formatCode>
                <c:ptCount val="5"/>
                <c:pt idx="0">
                  <c:v>0.283</c:v>
                </c:pt>
                <c:pt idx="1">
                  <c:v>0.31</c:v>
                </c:pt>
                <c:pt idx="2">
                  <c:v>0.279</c:v>
                </c:pt>
                <c:pt idx="3">
                  <c:v>0.302</c:v>
                </c:pt>
                <c:pt idx="4">
                  <c:v>0.292</c:v>
                </c:pt>
              </c:numCache>
            </c:numRef>
          </c:val>
        </c:ser>
        <c:dLbls>
          <c:txPr>
            <a:bodyPr xmlns:a="http://schemas.openxmlformats.org/drawingml/2006/main" anchorCtr="1"/>
            <a:lstStyle xmlns:a="http://schemas.openxmlformats.org/drawingml/2006/main"/>
            <a:p xmlns:a="http://schemas.openxmlformats.org/drawingml/2006/main">
              <a:pPr>
                <a:defRPr sz="1425">
                  <a:latin typeface="Trebuchet MS"/>
                  <a:ea typeface="Trebuchet MS"/>
                  <a:cs typeface="Trebuchet M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Trebuchet MS"/>
                <a:ea typeface="Trebuchet MS"/>
                <a:cs typeface="Trebuchet MS"/>
              </a:defRPr>
            </a:pPr>
          </a:p>
        </c:txPr>
        <c:crossAx val="48672768"/>
      </c:catAx>
      <c:valAx>
        <c:axId val="48672768"/>
        <c:scaling>
          <c:orientation val="minMax"/>
          <c:max val="0.8"/>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Trebuchet MS"/>
                <a:ea typeface="Trebuchet MS"/>
                <a:cs typeface="Trebuchet M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Trebuchet MS"/>
              <a:ea typeface="Trebuchet MS"/>
              <a:cs typeface="Trebuchet M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43FB9B5-EC9B-4DC3-B22D-DDA264D540FB}"/>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2" name="text-1">
            <a:extLst xmlns:a="http://schemas.openxmlformats.org/drawingml/2006/main">
              <a:ext uri="{FF2B5EF4-FFF2-40B4-BE49-F238E27FC236}">
                <a16:creationId xmlns:a16="http://schemas.microsoft.com/office/drawing/2014/main" id="{4EF8374C-A657-43C3-9682-EF67A4A93359}"/>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1</a:t>
            </a:r>
          </a:p>
        </p:txBody>
      </p:sp>
      <p:sp>
        <p:nvSpPr>
          <p:cNvPr id="3" name="text-2">
            <a:extLst xmlns:a="http://schemas.openxmlformats.org/drawingml/2006/main">
              <a:ext uri="{FF2B5EF4-FFF2-40B4-BE49-F238E27FC236}">
                <a16:creationId xmlns:a16="http://schemas.microsoft.com/office/drawing/2014/main" id="{73F2FF00-2B2C-4C70-ACC1-FACF5F9FC82A}"/>
              </a:ext>
            </a:extLst>
          </p:cNvPr>
          <p:cNvSpPr>
            <a:spLocks xmlns:a="http://schemas.openxmlformats.org/drawingml/2006/main" noGrp="1"/>
          </p:cNvSpPr>
          <p:nvPr/>
        </p:nvSpPr>
        <p:spPr>
          <a:xfrm xmlns:a="http://schemas.openxmlformats.org/drawingml/2006/main">
            <a:off x="609600" y="552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C65A2B"/>
                </a:solidFill>
                <a:latin typeface="Trebuchet MS"/>
                <a:ea typeface="Trebuchet MS"/>
                <a:cs typeface="Trebuchet MS"/>
              </a:defRPr>
            </a:pPr>
            <a:r>
              <a:rPr sz="1725" b="1">
                <a:solidFill>
                  <a:srgbClr val="C65A2B"/>
                </a:solidFill>
                <a:latin typeface="Trebuchet MS"/>
                <a:ea typeface="Trebuchet MS"/>
                <a:cs typeface="Trebuchet MS"/>
              </a:rPr>
              <a:t>PES UNIVERSITY</a:t>
            </a:r>
          </a:p>
        </p:txBody>
      </p:sp>
      <p:sp>
        <p:nvSpPr>
          <p:cNvPr id="4" name="text-3">
            <a:extLst xmlns:a="http://schemas.openxmlformats.org/drawingml/2006/main">
              <a:ext uri="{FF2B5EF4-FFF2-40B4-BE49-F238E27FC236}">
                <a16:creationId xmlns:a16="http://schemas.microsoft.com/office/drawing/2014/main" id="{454FB53C-F09F-4667-97FA-26B99B52230B}"/>
              </a:ext>
            </a:extLst>
          </p:cNvPr>
          <p:cNvSpPr>
            <a:spLocks xmlns:a="http://schemas.openxmlformats.org/drawingml/2006/main" noGrp="1"/>
          </p:cNvSpPr>
          <p:nvPr/>
        </p:nvSpPr>
        <p:spPr>
          <a:xfrm xmlns:a="http://schemas.openxmlformats.org/drawingml/2006/main">
            <a:off x="609600" y="1428750"/>
            <a:ext cx="10648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00" b="1">
                <a:solidFill>
                  <a:srgbClr val="8B5842"/>
                </a:solidFill>
                <a:latin typeface="Trebuchet MS"/>
                <a:ea typeface="Trebuchet MS"/>
                <a:cs typeface="Trebuchet MS"/>
              </a:defRPr>
            </a:pPr>
            <a:r>
              <a:rPr sz="4200" b="1">
                <a:solidFill>
                  <a:srgbClr val="8B5842"/>
                </a:solidFill>
                <a:latin typeface="Trebuchet MS"/>
                <a:ea typeface="Trebuchet MS"/>
                <a:cs typeface="Trebuchet MS"/>
              </a:rPr>
              <a:t>Aspect-based</a:t>
            </a:r>
          </a:p>
          <a:p xmlns:a="http://schemas.openxmlformats.org/drawingml/2006/main">
            <a:pPr>
              <a:defRPr sz="4200" b="1">
                <a:solidFill>
                  <a:srgbClr val="8B5842"/>
                </a:solidFill>
                <a:latin typeface="Trebuchet MS"/>
                <a:ea typeface="Trebuchet MS"/>
                <a:cs typeface="Trebuchet MS"/>
              </a:defRPr>
            </a:pPr>
            <a:r>
              <a:rPr sz="4200" b="1">
                <a:solidFill>
                  <a:srgbClr val="8B5842"/>
                </a:solidFill>
                <a:latin typeface="Trebuchet MS"/>
                <a:ea typeface="Trebuchet MS"/>
                <a:cs typeface="Trebuchet MS"/>
              </a:rPr>
              <a:t>Sentiment Analysis</a:t>
            </a:r>
          </a:p>
          <a:p xmlns:a="http://schemas.openxmlformats.org/drawingml/2006/main">
            <a:pPr>
              <a:defRPr sz="4200" b="1">
                <a:solidFill>
                  <a:srgbClr val="8B5842"/>
                </a:solidFill>
                <a:latin typeface="Trebuchet MS"/>
                <a:ea typeface="Trebuchet MS"/>
                <a:cs typeface="Trebuchet MS"/>
              </a:defRPr>
            </a:pPr>
            <a:r>
              <a:rPr sz="4200" b="1">
                <a:solidFill>
                  <a:srgbClr val="8B5842"/>
                </a:solidFill>
                <a:latin typeface="Trebuchet MS"/>
                <a:ea typeface="Trebuchet MS"/>
                <a:cs typeface="Trebuchet MS"/>
              </a:rPr>
              <a:t>on Hotel Reviews</a:t>
            </a:r>
          </a:p>
        </p:txBody>
      </p:sp>
      <p:sp>
        <p:nvSpPr>
          <p:cNvPr id="5" name="text-4">
            <a:extLst xmlns:a="http://schemas.openxmlformats.org/drawingml/2006/main">
              <a:ext uri="{FF2B5EF4-FFF2-40B4-BE49-F238E27FC236}">
                <a16:creationId xmlns:a16="http://schemas.microsoft.com/office/drawing/2014/main" id="{0DF25784-9F86-4AED-A176-A7BE3E13214E}"/>
              </a:ext>
            </a:extLst>
          </p:cNvPr>
          <p:cNvSpPr>
            <a:spLocks xmlns:a="http://schemas.openxmlformats.org/drawingml/2006/main" noGrp="1"/>
          </p:cNvSpPr>
          <p:nvPr/>
        </p:nvSpPr>
        <p:spPr>
          <a:xfrm xmlns:a="http://schemas.openxmlformats.org/drawingml/2006/main">
            <a:off x="609600" y="40576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333333"/>
                </a:solidFill>
                <a:latin typeface="Trebuchet MS"/>
                <a:ea typeface="Trebuchet MS"/>
                <a:cs typeface="Trebuchet MS"/>
              </a:defRPr>
            </a:pPr>
            <a:r>
              <a:rPr sz="2250" b="0">
                <a:solidFill>
                  <a:srgbClr val="333333"/>
                </a:solidFill>
                <a:latin typeface="Trebuchet MS"/>
                <a:ea typeface="Trebuchet MS"/>
                <a:cs typeface="Trebuchet MS"/>
              </a:rPr>
              <a:t>Machine Learning Mini-Project</a:t>
            </a:r>
          </a:p>
        </p:txBody>
      </p:sp>
      <p:sp>
        <p:nvSpPr>
          <p:cNvPr id="6" name="text-5">
            <a:extLst xmlns:a="http://schemas.openxmlformats.org/drawingml/2006/main">
              <a:ext uri="{FF2B5EF4-FFF2-40B4-BE49-F238E27FC236}">
                <a16:creationId xmlns:a16="http://schemas.microsoft.com/office/drawing/2014/main" id="{59BE8655-9E8D-4951-A991-10DBE47707B6}"/>
              </a:ext>
            </a:extLst>
          </p:cNvPr>
          <p:cNvSpPr>
            <a:spLocks xmlns:a="http://schemas.openxmlformats.org/drawingml/2006/main" noGrp="1"/>
          </p:cNvSpPr>
          <p:nvPr/>
        </p:nvSpPr>
        <p:spPr>
          <a:xfrm xmlns:a="http://schemas.openxmlformats.org/drawingml/2006/main">
            <a:off x="609600" y="48101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Nidhi  ·  PES1UG24CS582</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Nikhil.P  ·  PES1UG24CS583</a:t>
            </a:r>
          </a:p>
        </p:txBody>
      </p:sp>
    </p:spTree>
    <p:extLst>
      <p:ext uri="{BB962C8B-B14F-4D97-AF65-F5344CB8AC3E}">
        <p14:creationId xmlns:p14="http://schemas.microsoft.com/office/powerpoint/2010/main" val="152874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F731A7D-0B1A-480D-8F0B-F35FDEA5EF96}"/>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Problem statement</a:t>
            </a:r>
          </a:p>
        </p:txBody>
      </p:sp>
      <p:sp>
        <p:nvSpPr>
          <p:cNvPr id="2" name="text-1">
            <a:extLst xmlns:a="http://schemas.openxmlformats.org/drawingml/2006/main">
              <a:ext uri="{FF2B5EF4-FFF2-40B4-BE49-F238E27FC236}">
                <a16:creationId xmlns:a16="http://schemas.microsoft.com/office/drawing/2014/main" id="{DF8D6CFE-9889-40DC-86AD-ABC19C6BE98B}"/>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2D14F194-3BFF-4465-A655-FD3ADEFF2828}"/>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2</a:t>
            </a:r>
          </a:p>
        </p:txBody>
      </p:sp>
      <p:sp>
        <p:nvSpPr>
          <p:cNvPr id="4" name="text-3">
            <a:extLst xmlns:a="http://schemas.openxmlformats.org/drawingml/2006/main">
              <a:ext uri="{FF2B5EF4-FFF2-40B4-BE49-F238E27FC236}">
                <a16:creationId xmlns:a16="http://schemas.microsoft.com/office/drawing/2014/main" id="{1D795DBD-3B82-4314-95BB-1D240901E677}"/>
              </a:ext>
            </a:extLst>
          </p:cNvPr>
          <p:cNvSpPr>
            <a:spLocks xmlns:a="http://schemas.openxmlformats.org/drawingml/2006/main" noGrp="1"/>
          </p:cNvSpPr>
          <p:nvPr/>
        </p:nvSpPr>
        <p:spPr>
          <a:xfrm xmlns:a="http://schemas.openxmlformats.org/drawingml/2006/main">
            <a:off x="609600" y="14382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C65A2B"/>
                </a:solidFill>
                <a:latin typeface="Trebuchet MS"/>
                <a:ea typeface="Trebuchet MS"/>
                <a:cs typeface="Trebuchet MS"/>
              </a:defRPr>
            </a:pPr>
            <a:r>
              <a:rPr sz="2175" b="1">
                <a:solidFill>
                  <a:srgbClr val="C65A2B"/>
                </a:solidFill>
                <a:latin typeface="Trebuchet MS"/>
                <a:ea typeface="Trebuchet MS"/>
                <a:cs typeface="Trebuchet MS"/>
              </a:rPr>
              <a:t>One review can contain different opinions</a:t>
            </a:r>
          </a:p>
        </p:txBody>
      </p:sp>
      <p:sp>
        <p:nvSpPr>
          <p:cNvPr id="5" name="text-4">
            <a:extLst xmlns:a="http://schemas.openxmlformats.org/drawingml/2006/main">
              <a:ext uri="{FF2B5EF4-FFF2-40B4-BE49-F238E27FC236}">
                <a16:creationId xmlns:a16="http://schemas.microsoft.com/office/drawing/2014/main" id="{69555765-F22B-48E1-A631-6BDE1633D9DB}"/>
              </a:ext>
            </a:extLst>
          </p:cNvPr>
          <p:cNvSpPr>
            <a:spLocks xmlns:a="http://schemas.openxmlformats.org/drawingml/2006/main" noGrp="1"/>
          </p:cNvSpPr>
          <p:nvPr/>
        </p:nvSpPr>
        <p:spPr>
          <a:xfrm xmlns:a="http://schemas.openxmlformats.org/drawingml/2006/main">
            <a:off x="609600" y="20478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333333"/>
                </a:solidFill>
                <a:latin typeface="Trebuchet MS"/>
                <a:ea typeface="Trebuchet MS"/>
                <a:cs typeface="Trebuchet MS"/>
              </a:defRPr>
            </a:pPr>
            <a:r>
              <a:rPr sz="2475" b="0">
                <a:solidFill>
                  <a:srgbClr val="333333"/>
                </a:solidFill>
                <a:latin typeface="Trebuchet MS"/>
                <a:ea typeface="Trebuchet MS"/>
                <a:cs typeface="Trebuchet MS"/>
              </a:rPr>
              <a:t>“The room was spotless, but street noise kept us awake.”</a:t>
            </a:r>
          </a:p>
        </p:txBody>
      </p:sp>
      <p:graphicFrame>
        <p:nvGraphicFramePr>
          <p:cNvPr id="13" name=""/>
          <p:cNvGraphicFramePr/>
          <p:nvPr/>
        </p:nvGraphicFramePr>
        <p:xfrm>
          <a:off xmlns:a="http://schemas.openxmlformats.org/drawingml/2006/main" x="609600" y="3219450"/>
          <a:ext xmlns:a="http://schemas.openxmlformats.org/drawingml/2006/main" cx="10972800" cy="1857375"/>
        </p:xfrm>
        <a:graphic xmlns:a="http://schemas.openxmlformats.org/drawingml/2006/main">
          <a:graphicData uri="http://schemas.openxmlformats.org/drawingml/2006/table">
            <a:tbl>
              <a:tblPr/>
              <a:tblGrid>
                <a:gridCol w="3657600"/>
                <a:gridCol w="7315200"/>
              </a:tblGrid>
              <a:tr h="619125">
                <a:tc>
                  <a:txBody>
                    <a:bodyPr/>
                    <a:lstStyle/>
                    <a:p>
                      <a:r>
                        <a:rPr sz="1725" b="1">
                          <a:solidFill>
                            <a:srgbClr val="8B5842"/>
                          </a:solidFill>
                          <a:latin typeface="Trebuchet MS"/>
                          <a:ea typeface="Trebuchet MS"/>
                          <a:cs typeface="Trebuchet MS"/>
                        </a:rPr>
                        <a:t>Aspect</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Illustrative intended sentiment</a:t>
                      </a:r>
                    </a:p>
                  </a:txBody>
                  <a:tcPr marL="114300" marR="114300" marT="95250" marB="76200" anchor="ctr">
                    <a:solidFill>
                      <a:srgbClr val="F6F3F0"/>
                    </a:solidFill>
                  </a:tcPr>
                </a:tc>
              </a:tr>
              <a:tr h="619125">
                <a:tc>
                  <a:txBody>
                    <a:bodyPr/>
                    <a:lstStyle/>
                    <a:p>
                      <a:r>
                        <a:rPr sz="1800">
                          <a:solidFill>
                            <a:srgbClr val="333333"/>
                          </a:solidFill>
                          <a:latin typeface="Trebuchet MS"/>
                          <a:ea typeface="Trebuchet MS"/>
                          <a:cs typeface="Trebuchet MS"/>
                        </a:rPr>
                        <a:t>Cleanliness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Positive</a:t>
                      </a:r>
                    </a:p>
                  </a:txBody>
                  <a:tcPr marL="114300" marR="114300" marT="95250" marB="76200" anchor="ctr">
                    <a:solidFill>
                      <a:srgbClr val="FFFFFF"/>
                    </a:solidFill>
                  </a:tcPr>
                </a:tc>
              </a:tr>
              <a:tr h="619125">
                <a:tc>
                  <a:txBody>
                    <a:bodyPr/>
                    <a:lstStyle/>
                    <a:p>
                      <a:r>
                        <a:rPr sz="1800">
                          <a:solidFill>
                            <a:srgbClr val="333333"/>
                          </a:solidFill>
                          <a:latin typeface="Trebuchet MS"/>
                          <a:ea typeface="Trebuchet MS"/>
                          <a:cs typeface="Trebuchet MS"/>
                        </a:rPr>
                        <a:t>Sleep quality</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Negative</a:t>
                      </a:r>
                    </a:p>
                  </a:txBody>
                  <a:tcPr marL="114300" marR="114300" marT="95250" marB="76200" anchor="ctr">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4ABA8DAB-D24D-42BA-BA4E-2351E102B3ED}"/>
              </a:ext>
            </a:extLst>
          </p:cNvPr>
          <p:cNvSpPr>
            <a:spLocks xmlns:a="http://schemas.openxmlformats.org/drawingml/2006/main" noGrp="1"/>
          </p:cNvSpPr>
          <p:nvPr/>
        </p:nvSpPr>
        <p:spPr>
          <a:xfrm xmlns:a="http://schemas.openxmlformats.org/drawingml/2006/main">
            <a:off x="609600" y="54483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333333"/>
                </a:solidFill>
                <a:latin typeface="Trebuchet MS"/>
                <a:ea typeface="Trebuchet MS"/>
                <a:cs typeface="Trebuchet MS"/>
              </a:defRPr>
            </a:pPr>
            <a:r>
              <a:rPr sz="1950" b="0">
                <a:solidFill>
                  <a:srgbClr val="333333"/>
                </a:solidFill>
                <a:latin typeface="Trebuchet MS"/>
                <a:ea typeface="Trebuchet MS"/>
                <a:cs typeface="Trebuchet MS"/>
              </a:rPr>
              <a:t>Goal: estimate sentiment and a rating for each supported hotel aspect.</a:t>
            </a:r>
          </a:p>
        </p:txBody>
      </p:sp>
    </p:spTree>
    <p:extLst>
      <p:ext uri="{BB962C8B-B14F-4D97-AF65-F5344CB8AC3E}">
        <p14:creationId xmlns:p14="http://schemas.microsoft.com/office/powerpoint/2010/main" val="13386684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2DBFD54-22E5-4AB5-8E38-1C8AF0D3F6A2}"/>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Reference study</a:t>
            </a:r>
          </a:p>
        </p:txBody>
      </p:sp>
      <p:sp>
        <p:nvSpPr>
          <p:cNvPr id="2" name="text-1">
            <a:extLst xmlns:a="http://schemas.openxmlformats.org/drawingml/2006/main">
              <a:ext uri="{FF2B5EF4-FFF2-40B4-BE49-F238E27FC236}">
                <a16:creationId xmlns:a16="http://schemas.microsoft.com/office/drawing/2014/main" id="{0F82EC10-0B89-4303-B455-50B4984BD913}"/>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35CEA1CE-E8E8-4E81-81FD-2756AB13202E}"/>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3</a:t>
            </a:r>
          </a:p>
        </p:txBody>
      </p:sp>
      <p:sp>
        <p:nvSpPr>
          <p:cNvPr id="4" name="text-3">
            <a:extLst xmlns:a="http://schemas.openxmlformats.org/drawingml/2006/main">
              <a:ext uri="{FF2B5EF4-FFF2-40B4-BE49-F238E27FC236}">
                <a16:creationId xmlns:a16="http://schemas.microsoft.com/office/drawing/2014/main" id="{8506AAB3-3CCF-4230-A692-C96D5D0C95EE}"/>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Supplied paper</a:t>
            </a:r>
          </a:p>
        </p:txBody>
      </p:sp>
      <p:sp>
        <p:nvSpPr>
          <p:cNvPr id="5" name="text-4">
            <a:extLst xmlns:a="http://schemas.openxmlformats.org/drawingml/2006/main">
              <a:ext uri="{FF2B5EF4-FFF2-40B4-BE49-F238E27FC236}">
                <a16:creationId xmlns:a16="http://schemas.microsoft.com/office/drawing/2014/main" id="{D7A162DF-7CBD-4C72-B22A-1D74D6DB6F7A}"/>
              </a:ext>
            </a:extLst>
          </p:cNvPr>
          <p:cNvSpPr>
            <a:spLocks xmlns:a="http://schemas.openxmlformats.org/drawingml/2006/main" noGrp="1"/>
          </p:cNvSpPr>
          <p:nvPr/>
        </p:nvSpPr>
        <p:spPr>
          <a:xfrm xmlns:a="http://schemas.openxmlformats.org/drawingml/2006/main">
            <a:off x="609600" y="19145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Yangyang Yu, Stanford CS229, Spring 2016.</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235,793 TripAdvisor reviews with aspect ratings.</a:t>
            </a:r>
          </a:p>
        </p:txBody>
      </p:sp>
      <p:sp>
        <p:nvSpPr>
          <p:cNvPr id="6" name="text-5">
            <a:extLst xmlns:a="http://schemas.openxmlformats.org/drawingml/2006/main">
              <a:ext uri="{FF2B5EF4-FFF2-40B4-BE49-F238E27FC236}">
                <a16:creationId xmlns:a16="http://schemas.microsoft.com/office/drawing/2014/main" id="{4A49C4B7-7D94-4F9C-86EF-AA0B63253B38}"/>
              </a:ext>
            </a:extLst>
          </p:cNvPr>
          <p:cNvSpPr>
            <a:spLocks xmlns:a="http://schemas.openxmlformats.org/drawingml/2006/main" noGrp="1"/>
          </p:cNvSpPr>
          <p:nvPr/>
        </p:nvSpPr>
        <p:spPr>
          <a:xfrm xmlns:a="http://schemas.openxmlformats.org/drawingml/2006/main">
            <a:off x="609600" y="2876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Approach</a:t>
            </a:r>
          </a:p>
        </p:txBody>
      </p:sp>
      <p:sp>
        <p:nvSpPr>
          <p:cNvPr id="7" name="text-6">
            <a:extLst xmlns:a="http://schemas.openxmlformats.org/drawingml/2006/main">
              <a:ext uri="{FF2B5EF4-FFF2-40B4-BE49-F238E27FC236}">
                <a16:creationId xmlns:a16="http://schemas.microsoft.com/office/drawing/2014/main" id="{B7E2C134-E7F9-43DA-BC9E-A4A5585DC761}"/>
              </a:ext>
            </a:extLst>
          </p:cNvPr>
          <p:cNvSpPr>
            <a:spLocks xmlns:a="http://schemas.openxmlformats.org/drawingml/2006/main" noGrp="1"/>
          </p:cNvSpPr>
          <p:nvPr/>
        </p:nvSpPr>
        <p:spPr>
          <a:xfrm xmlns:a="http://schemas.openxmlformats.org/drawingml/2006/main">
            <a:off x="609600" y="3286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Compare Naive Bayes, linear SVM, and regression.</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Study n-grams, TF-IDF, and class imbalance.</a:t>
            </a:r>
          </a:p>
        </p:txBody>
      </p:sp>
      <p:sp>
        <p:nvSpPr>
          <p:cNvPr id="8" name="text-7">
            <a:extLst xmlns:a="http://schemas.openxmlformats.org/drawingml/2006/main">
              <a:ext uri="{FF2B5EF4-FFF2-40B4-BE49-F238E27FC236}">
                <a16:creationId xmlns:a16="http://schemas.microsoft.com/office/drawing/2014/main" id="{7601625A-9B71-4022-9013-681C00DB39EB}"/>
              </a:ext>
            </a:extLst>
          </p:cNvPr>
          <p:cNvSpPr>
            <a:spLocks xmlns:a="http://schemas.openxmlformats.org/drawingml/2006/main" noGrp="1"/>
          </p:cNvSpPr>
          <p:nvPr/>
        </p:nvSpPr>
        <p:spPr>
          <a:xfrm xmlns:a="http://schemas.openxmlformats.org/drawingml/2006/main">
            <a:off x="609600" y="4248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Reported results</a:t>
            </a:r>
          </a:p>
        </p:txBody>
      </p:sp>
      <p:sp>
        <p:nvSpPr>
          <p:cNvPr id="9" name="text-8">
            <a:extLst xmlns:a="http://schemas.openxmlformats.org/drawingml/2006/main">
              <a:ext uri="{FF2B5EF4-FFF2-40B4-BE49-F238E27FC236}">
                <a16:creationId xmlns:a16="http://schemas.microsoft.com/office/drawing/2014/main" id="{6BF04AA2-CACF-415F-8211-926982575C56}"/>
              </a:ext>
            </a:extLst>
          </p:cNvPr>
          <p:cNvSpPr>
            <a:spLocks xmlns:a="http://schemas.openxmlformats.org/drawingml/2006/main" noGrp="1"/>
          </p:cNvSpPr>
          <p:nvPr/>
        </p:nvSpPr>
        <p:spPr>
          <a:xfrm xmlns:a="http://schemas.openxmlformats.org/drawingml/2006/main">
            <a:off x="609600" y="46577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70-75% rating accuracy and 85-90% polarity accuracy.</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Our experiment uses different data and reports separate measured scores.</a:t>
            </a:r>
          </a:p>
        </p:txBody>
      </p:sp>
    </p:spTree>
    <p:extLst>
      <p:ext uri="{BB962C8B-B14F-4D97-AF65-F5344CB8AC3E}">
        <p14:creationId xmlns:p14="http://schemas.microsoft.com/office/powerpoint/2010/main" val="2064483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EC63593-361F-4EA5-9181-2FF0E08ABA6D}"/>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Dataset and aspect coverage</a:t>
            </a:r>
          </a:p>
        </p:txBody>
      </p:sp>
      <p:sp>
        <p:nvSpPr>
          <p:cNvPr id="2" name="text-1">
            <a:extLst xmlns:a="http://schemas.openxmlformats.org/drawingml/2006/main">
              <a:ext uri="{FF2B5EF4-FFF2-40B4-BE49-F238E27FC236}">
                <a16:creationId xmlns:a16="http://schemas.microsoft.com/office/drawing/2014/main" id="{2E368438-1F40-4B22-BF77-4D5ABEC6D8EF}"/>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80B4D216-7D89-467B-AC00-A138D8825A07}"/>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4</a:t>
            </a:r>
          </a:p>
        </p:txBody>
      </p:sp>
      <p:sp>
        <p:nvSpPr>
          <p:cNvPr id="4" name="text-3">
            <a:extLst xmlns:a="http://schemas.openxmlformats.org/drawingml/2006/main">
              <a:ext uri="{FF2B5EF4-FFF2-40B4-BE49-F238E27FC236}">
                <a16:creationId xmlns:a16="http://schemas.microsoft.com/office/drawing/2014/main" id="{95A42555-463A-4A45-BDFE-EB89D2B21275}"/>
              </a:ext>
            </a:extLst>
          </p:cNvPr>
          <p:cNvSpPr>
            <a:spLocks xmlns:a="http://schemas.openxmlformats.org/drawingml/2006/main" noGrp="1"/>
          </p:cNvSpPr>
          <p:nvPr/>
        </p:nvSpPr>
        <p:spPr>
          <a:xfrm xmlns:a="http://schemas.openxmlformats.org/drawingml/2006/main">
            <a:off x="609600" y="13811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20,000 sampled reviews from an accessible TripAdvisor redistribution</a:t>
            </a:r>
          </a:p>
        </p:txBody>
      </p:sp>
      <p:graphicFrame>
        <p:nvGraphicFramePr>
          <p:cNvPr id="11" name=""/>
          <p:cNvGraphicFramePr/>
          <p:nvPr/>
        </p:nvGraphicFramePr>
        <p:xfrm>
          <a:off xmlns:a="http://schemas.openxmlformats.org/drawingml/2006/main" x="609600" y="2409825"/>
          <a:ext xmlns:a="http://schemas.openxmlformats.org/drawingml/2006/main" cx="10972800" cy="3095625"/>
        </p:xfrm>
        <a:graphic xmlns:a="http://schemas.openxmlformats.org/drawingml/2006/main">
          <a:graphicData uri="http://schemas.openxmlformats.org/drawingml/2006/table">
            <a:tbl>
              <a:tblPr/>
              <a:tblGrid>
                <a:gridCol w="4267200"/>
                <a:gridCol w="2857500"/>
                <a:gridCol w="3848100"/>
              </a:tblGrid>
              <a:tr h="619125">
                <a:tc>
                  <a:txBody>
                    <a:bodyPr/>
                    <a:lstStyle/>
                    <a:p>
                      <a:r>
                        <a:rPr sz="1725" b="1">
                          <a:solidFill>
                            <a:srgbClr val="8B5842"/>
                          </a:solidFill>
                          <a:latin typeface="Trebuchet MS"/>
                          <a:ea typeface="Trebuchet MS"/>
                          <a:cs typeface="Trebuchet MS"/>
                        </a:rPr>
                        <a:t>Target</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Label coverage</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Project behavior</a:t>
                      </a:r>
                    </a:p>
                  </a:txBody>
                  <a:tcPr marL="114300" marR="114300" marT="95250" marB="76200" anchor="ctr">
                    <a:solidFill>
                      <a:srgbClr val="F6F3F0"/>
                    </a:solidFill>
                  </a:tcPr>
                </a:tc>
              </a:tr>
              <a:tr h="619125">
                <a:tc>
                  <a:txBody>
                    <a:bodyPr/>
                    <a:lstStyle/>
                    <a:p>
                      <a:r>
                        <a:rPr sz="1800">
                          <a:solidFill>
                            <a:srgbClr val="333333"/>
                          </a:solidFill>
                          <a:latin typeface="Trebuchet MS"/>
                          <a:ea typeface="Trebuchet MS"/>
                          <a:cs typeface="Trebuchet MS"/>
                        </a:rPr>
                        <a:t>Rooms, location, value</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20,000 per aspect</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Train and evaluate</a:t>
                      </a:r>
                    </a:p>
                  </a:txBody>
                  <a:tcPr marL="114300" marR="114300" marT="95250" marB="76200" anchor="ctr">
                    <a:solidFill>
                      <a:srgbClr val="FFFFFF"/>
                    </a:solidFill>
                  </a:tcPr>
                </a:tc>
              </a:tr>
              <a:tr h="619125">
                <a:tc>
                  <a:txBody>
                    <a:bodyPr/>
                    <a:lstStyle/>
                    <a:p>
                      <a:r>
                        <a:rPr sz="1800">
                          <a:solidFill>
                            <a:srgbClr val="333333"/>
                          </a:solidFill>
                          <a:latin typeface="Trebuchet MS"/>
                          <a:ea typeface="Trebuchet MS"/>
                          <a:cs typeface="Trebuchet MS"/>
                        </a:rPr>
                        <a:t>Cleanliness, sleep quality</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20,000 per aspect</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Train and evaluate</a:t>
                      </a:r>
                    </a:p>
                  </a:txBody>
                  <a:tcPr marL="114300" marR="114300" marT="95250" marB="76200" anchor="ctr">
                    <a:solidFill>
                      <a:srgbClr val="FFFFFF"/>
                    </a:solidFill>
                  </a:tcPr>
                </a:tc>
              </a:tr>
              <a:tr h="619125">
                <a:tc>
                  <a:txBody>
                    <a:bodyPr/>
                    <a:lstStyle/>
                    <a:p>
                      <a:r>
                        <a:rPr sz="1800">
                          <a:solidFill>
                            <a:srgbClr val="333333"/>
                          </a:solidFill>
                          <a:latin typeface="Trebuchet MS"/>
                          <a:ea typeface="Trebuchet MS"/>
                          <a:cs typeface="Trebuchet MS"/>
                        </a:rPr>
                        <a:t>Overall impression</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20,000 ratings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Separate overall model</a:t>
                      </a:r>
                    </a:p>
                  </a:txBody>
                  <a:tcPr marL="114300" marR="114300" marT="95250" marB="76200" anchor="ctr">
                    <a:solidFill>
                      <a:srgbClr val="FFFFFF"/>
                    </a:solidFill>
                  </a:tcPr>
                </a:tc>
              </a:tr>
              <a:tr h="619125">
                <a:tc>
                  <a:txBody>
                    <a:bodyPr/>
                    <a:lstStyle/>
                    <a:p>
                      <a:r>
                        <a:rPr sz="1800">
                          <a:solidFill>
                            <a:srgbClr val="333333"/>
                          </a:solidFill>
                          <a:latin typeface="Trebuchet MS"/>
                          <a:ea typeface="Trebuchet MS"/>
                          <a:cs typeface="Trebuchet MS"/>
                        </a:rPr>
                        <a:t>Service, business service</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No labels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Display unavailable</a:t>
                      </a:r>
                    </a:p>
                  </a:txBody>
                  <a:tcPr marL="114300" marR="114300" marT="9525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B05FA292-A6B0-4D14-87A8-E0D52A4C6D12}"/>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766E69"/>
                </a:solidFill>
                <a:latin typeface="Trebuchet MS"/>
                <a:ea typeface="Trebuchet MS"/>
                <a:cs typeface="Trebuchet MS"/>
              </a:defRPr>
            </a:pPr>
            <a:r>
              <a:rPr sz="1725" b="0">
                <a:solidFill>
                  <a:srgbClr val="766E69"/>
                </a:solidFill>
                <a:latin typeface="Trebuchet MS"/>
                <a:ea typeface="Trebuchet MS"/>
                <a:cs typeface="Trebuchet MS"/>
              </a:rPr>
              <a:t>This source differs from the dataset used in the supplied study.</a:t>
            </a:r>
          </a:p>
        </p:txBody>
      </p:sp>
    </p:spTree>
    <p:extLst>
      <p:ext uri="{BB962C8B-B14F-4D97-AF65-F5344CB8AC3E}">
        <p14:creationId xmlns:p14="http://schemas.microsoft.com/office/powerpoint/2010/main" val="7897080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8F4FF1C-9FC4-4B85-911B-9CACDB939691}"/>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Text features and training workflow</a:t>
            </a:r>
          </a:p>
        </p:txBody>
      </p:sp>
      <p:sp>
        <p:nvSpPr>
          <p:cNvPr id="2" name="text-1">
            <a:extLst xmlns:a="http://schemas.openxmlformats.org/drawingml/2006/main">
              <a:ext uri="{FF2B5EF4-FFF2-40B4-BE49-F238E27FC236}">
                <a16:creationId xmlns:a16="http://schemas.microsoft.com/office/drawing/2014/main" id="{0E3D029B-0079-44CE-8852-3736F290C0DF}"/>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A79191A0-F07D-4D0B-8442-733C34762969}"/>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5</a:t>
            </a:r>
          </a:p>
        </p:txBody>
      </p:sp>
      <p:sp>
        <p:nvSpPr>
          <p:cNvPr id="4" name="text-3">
            <a:extLst xmlns:a="http://schemas.openxmlformats.org/drawingml/2006/main">
              <a:ext uri="{FF2B5EF4-FFF2-40B4-BE49-F238E27FC236}">
                <a16:creationId xmlns:a16="http://schemas.microsoft.com/office/drawing/2014/main" id="{0CE31AD2-3B5A-4B9C-A7D8-08354C56BCDB}"/>
              </a:ext>
            </a:extLst>
          </p:cNvPr>
          <p:cNvSpPr>
            <a:spLocks xmlns:a="http://schemas.openxmlformats.org/drawingml/2006/main" noGrp="1"/>
          </p:cNvSpPr>
          <p:nvPr/>
        </p:nvSpPr>
        <p:spPr>
          <a:xfrm xmlns:a="http://schemas.openxmlformats.org/drawingml/2006/main">
            <a:off x="609600" y="14573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01</a:t>
            </a:r>
          </a:p>
        </p:txBody>
      </p:sp>
      <p:sp>
        <p:nvSpPr>
          <p:cNvPr id="5" name="text-4">
            <a:extLst xmlns:a="http://schemas.openxmlformats.org/drawingml/2006/main">
              <a:ext uri="{FF2B5EF4-FFF2-40B4-BE49-F238E27FC236}">
                <a16:creationId xmlns:a16="http://schemas.microsoft.com/office/drawing/2014/main" id="{2FF53568-96F6-4288-B7D5-65B82F8F8DE2}"/>
              </a:ext>
            </a:extLst>
          </p:cNvPr>
          <p:cNvSpPr>
            <a:spLocks xmlns:a="http://schemas.openxmlformats.org/drawingml/2006/main" noGrp="1"/>
          </p:cNvSpPr>
          <p:nvPr/>
        </p:nvSpPr>
        <p:spPr>
          <a:xfrm xmlns:a="http://schemas.openxmlformats.org/drawingml/2006/main">
            <a:off x="1371600" y="1457325"/>
            <a:ext cx="10077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Combine review title and body, then normalize the text.</a:t>
            </a:r>
          </a:p>
        </p:txBody>
      </p:sp>
      <p:sp>
        <p:nvSpPr>
          <p:cNvPr id="6" name="text-5">
            <a:extLst xmlns:a="http://schemas.openxmlformats.org/drawingml/2006/main">
              <a:ext uri="{FF2B5EF4-FFF2-40B4-BE49-F238E27FC236}">
                <a16:creationId xmlns:a16="http://schemas.microsoft.com/office/drawing/2014/main" id="{BAD77083-A573-4AD0-9A45-474F881B3C9B}"/>
              </a:ext>
            </a:extLst>
          </p:cNvPr>
          <p:cNvSpPr>
            <a:spLocks xmlns:a="http://schemas.openxmlformats.org/drawingml/2006/main" noGrp="1"/>
          </p:cNvSpPr>
          <p:nvPr/>
        </p:nvSpPr>
        <p:spPr>
          <a:xfrm xmlns:a="http://schemas.openxmlformats.org/drawingml/2006/main">
            <a:off x="609600" y="23431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02</a:t>
            </a:r>
          </a:p>
        </p:txBody>
      </p:sp>
      <p:sp>
        <p:nvSpPr>
          <p:cNvPr id="7" name="text-6">
            <a:extLst xmlns:a="http://schemas.openxmlformats.org/drawingml/2006/main">
              <a:ext uri="{FF2B5EF4-FFF2-40B4-BE49-F238E27FC236}">
                <a16:creationId xmlns:a16="http://schemas.microsoft.com/office/drawing/2014/main" id="{B76F6879-3066-4B97-9775-416A90FCEA3C}"/>
              </a:ext>
            </a:extLst>
          </p:cNvPr>
          <p:cNvSpPr>
            <a:spLocks xmlns:a="http://schemas.openxmlformats.org/drawingml/2006/main" noGrp="1"/>
          </p:cNvSpPr>
          <p:nvPr/>
        </p:nvSpPr>
        <p:spPr>
          <a:xfrm xmlns:a="http://schemas.openxmlformats.org/drawingml/2006/main">
            <a:off x="1371600" y="2343150"/>
            <a:ext cx="10077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Deduplicate text and separate reviewer groups.</a:t>
            </a:r>
          </a:p>
        </p:txBody>
      </p:sp>
      <p:sp>
        <p:nvSpPr>
          <p:cNvPr id="8" name="text-7">
            <a:extLst xmlns:a="http://schemas.openxmlformats.org/drawingml/2006/main">
              <a:ext uri="{FF2B5EF4-FFF2-40B4-BE49-F238E27FC236}">
                <a16:creationId xmlns:a16="http://schemas.microsoft.com/office/drawing/2014/main" id="{D9D58503-9FD7-4A53-8B25-289527614E38}"/>
              </a:ext>
            </a:extLst>
          </p:cNvPr>
          <p:cNvSpPr>
            <a:spLocks xmlns:a="http://schemas.openxmlformats.org/drawingml/2006/main" noGrp="1"/>
          </p:cNvSpPr>
          <p:nvPr/>
        </p:nvSpPr>
        <p:spPr>
          <a:xfrm xmlns:a="http://schemas.openxmlformats.org/drawingml/2006/main">
            <a:off x="609600" y="32289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03</a:t>
            </a:r>
          </a:p>
        </p:txBody>
      </p:sp>
      <p:sp>
        <p:nvSpPr>
          <p:cNvPr id="9" name="text-8">
            <a:extLst xmlns:a="http://schemas.openxmlformats.org/drawingml/2006/main">
              <a:ext uri="{FF2B5EF4-FFF2-40B4-BE49-F238E27FC236}">
                <a16:creationId xmlns:a16="http://schemas.microsoft.com/office/drawing/2014/main" id="{7C0D971E-94F8-40CB-87A6-4D21D45CE8AD}"/>
              </a:ext>
            </a:extLst>
          </p:cNvPr>
          <p:cNvSpPr>
            <a:spLocks xmlns:a="http://schemas.openxmlformats.org/drawingml/2006/main" noGrp="1"/>
          </p:cNvSpPr>
          <p:nvPr/>
        </p:nvSpPr>
        <p:spPr>
          <a:xfrm xmlns:a="http://schemas.openxmlformats.org/drawingml/2006/main">
            <a:off x="1371600" y="3228975"/>
            <a:ext cx="10077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Fit counts or TF-IDF on training text with a 40,000-feature cap.</a:t>
            </a:r>
          </a:p>
        </p:txBody>
      </p:sp>
      <p:sp>
        <p:nvSpPr>
          <p:cNvPr id="10" name="text-9">
            <a:extLst xmlns:a="http://schemas.openxmlformats.org/drawingml/2006/main">
              <a:ext uri="{FF2B5EF4-FFF2-40B4-BE49-F238E27FC236}">
                <a16:creationId xmlns:a16="http://schemas.microsoft.com/office/drawing/2014/main" id="{E8346E18-7FB4-415A-BE2E-D79432D372D7}"/>
              </a:ext>
            </a:extLst>
          </p:cNvPr>
          <p:cNvSpPr>
            <a:spLocks xmlns:a="http://schemas.openxmlformats.org/drawingml/2006/main" noGrp="1"/>
          </p:cNvSpPr>
          <p:nvPr/>
        </p:nvSpPr>
        <p:spPr>
          <a:xfrm xmlns:a="http://schemas.openxmlformats.org/drawingml/2006/main">
            <a:off x="609600" y="41148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04</a:t>
            </a:r>
          </a:p>
        </p:txBody>
      </p:sp>
      <p:sp>
        <p:nvSpPr>
          <p:cNvPr id="11" name="text-10">
            <a:extLst xmlns:a="http://schemas.openxmlformats.org/drawingml/2006/main">
              <a:ext uri="{FF2B5EF4-FFF2-40B4-BE49-F238E27FC236}">
                <a16:creationId xmlns:a16="http://schemas.microsoft.com/office/drawing/2014/main" id="{A7B356C0-8877-4DA9-B92E-760970B1CC19}"/>
              </a:ext>
            </a:extLst>
          </p:cNvPr>
          <p:cNvSpPr>
            <a:spLocks xmlns:a="http://schemas.openxmlformats.org/drawingml/2006/main" noGrp="1"/>
          </p:cNvSpPr>
          <p:nvPr/>
        </p:nvSpPr>
        <p:spPr>
          <a:xfrm xmlns:a="http://schemas.openxmlformats.org/drawingml/2006/main">
            <a:off x="1371600" y="4114800"/>
            <a:ext cx="10077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Train independent sentiment and rating models for each target.</a:t>
            </a:r>
          </a:p>
        </p:txBody>
      </p:sp>
      <p:sp>
        <p:nvSpPr>
          <p:cNvPr id="12" name="text-11">
            <a:extLst xmlns:a="http://schemas.openxmlformats.org/drawingml/2006/main">
              <a:ext uri="{FF2B5EF4-FFF2-40B4-BE49-F238E27FC236}">
                <a16:creationId xmlns:a16="http://schemas.microsoft.com/office/drawing/2014/main" id="{B1BE970B-9A4F-4933-9C87-3BB15A070EDB}"/>
              </a:ext>
            </a:extLst>
          </p:cNvPr>
          <p:cNvSpPr>
            <a:spLocks xmlns:a="http://schemas.openxmlformats.org/drawingml/2006/main" noGrp="1"/>
          </p:cNvSpPr>
          <p:nvPr/>
        </p:nvSpPr>
        <p:spPr>
          <a:xfrm xmlns:a="http://schemas.openxmlformats.org/drawingml/2006/main">
            <a:off x="609600" y="5000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05</a:t>
            </a:r>
          </a:p>
        </p:txBody>
      </p:sp>
      <p:sp>
        <p:nvSpPr>
          <p:cNvPr id="13" name="text-12">
            <a:extLst xmlns:a="http://schemas.openxmlformats.org/drawingml/2006/main">
              <a:ext uri="{FF2B5EF4-FFF2-40B4-BE49-F238E27FC236}">
                <a16:creationId xmlns:a16="http://schemas.microsoft.com/office/drawing/2014/main" id="{E9125BFA-CF12-4DDF-A804-F14B2EEAF64C}"/>
              </a:ext>
            </a:extLst>
          </p:cNvPr>
          <p:cNvSpPr>
            <a:spLocks xmlns:a="http://schemas.openxmlformats.org/drawingml/2006/main" noGrp="1"/>
          </p:cNvSpPr>
          <p:nvPr/>
        </p:nvSpPr>
        <p:spPr>
          <a:xfrm xmlns:a="http://schemas.openxmlformats.org/drawingml/2006/main">
            <a:off x="1371600" y="5000625"/>
            <a:ext cx="10077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Select on validation macro-F1, then evaluate held-out reviewers.</a:t>
            </a:r>
          </a:p>
        </p:txBody>
      </p:sp>
    </p:spTree>
    <p:extLst>
      <p:ext uri="{BB962C8B-B14F-4D97-AF65-F5344CB8AC3E}">
        <p14:creationId xmlns:p14="http://schemas.microsoft.com/office/powerpoint/2010/main" val="614627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0B783F3-975A-48AE-8EC8-48B3CEAA52DA}"/>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Models and target labels</a:t>
            </a:r>
          </a:p>
        </p:txBody>
      </p:sp>
      <p:sp>
        <p:nvSpPr>
          <p:cNvPr id="2" name="text-1">
            <a:extLst xmlns:a="http://schemas.openxmlformats.org/drawingml/2006/main">
              <a:ext uri="{FF2B5EF4-FFF2-40B4-BE49-F238E27FC236}">
                <a16:creationId xmlns:a16="http://schemas.microsoft.com/office/drawing/2014/main" id="{622D3C87-716E-4F71-B538-FCF8AC018959}"/>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6EDBA67B-80E0-4CBB-85F6-2DAA8F23D210}"/>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6</a:t>
            </a:r>
          </a:p>
        </p:txBody>
      </p:sp>
      <p:graphicFrame>
        <p:nvGraphicFramePr>
          <p:cNvPr id="10" name=""/>
          <p:cNvGraphicFramePr/>
          <p:nvPr/>
        </p:nvGraphicFramePr>
        <p:xfrm>
          <a:off xmlns:a="http://schemas.openxmlformats.org/drawingml/2006/main" x="609600" y="1485900"/>
          <a:ext xmlns:a="http://schemas.openxmlformats.org/drawingml/2006/main" cx="10972800" cy="3333750"/>
        </p:xfrm>
        <a:graphic xmlns:a="http://schemas.openxmlformats.org/drawingml/2006/main">
          <a:graphicData uri="http://schemas.openxmlformats.org/drawingml/2006/table">
            <a:tbl>
              <a:tblPr/>
              <a:tblGrid>
                <a:gridCol w="3333750"/>
                <a:gridCol w="4267200"/>
                <a:gridCol w="3371850"/>
              </a:tblGrid>
              <a:tr h="666750">
                <a:tc>
                  <a:txBody>
                    <a:bodyPr/>
                    <a:lstStyle/>
                    <a:p>
                      <a:r>
                        <a:rPr sz="1725" b="1">
                          <a:solidFill>
                            <a:srgbClr val="8B5842"/>
                          </a:solidFill>
                          <a:latin typeface="Trebuchet MS"/>
                          <a:ea typeface="Trebuchet MS"/>
                          <a:cs typeface="Trebuchet MS"/>
                        </a:rPr>
                        <a:t>Model</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Features</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Purpose</a:t>
                      </a:r>
                    </a:p>
                  </a:txBody>
                  <a:tcPr marL="114300" marR="114300" marT="95250" marB="76200" anchor="ctr">
                    <a:solidFill>
                      <a:srgbClr val="F6F3F0"/>
                    </a:solidFill>
                  </a:tcPr>
                </a:tc>
              </a:tr>
              <a:tr h="666750">
                <a:tc>
                  <a:txBody>
                    <a:bodyPr/>
                    <a:lstStyle/>
                    <a:p>
                      <a:r>
                        <a:rPr sz="1800">
                          <a:solidFill>
                            <a:srgbClr val="333333"/>
                          </a:solidFill>
                          <a:latin typeface="Trebuchet MS"/>
                          <a:ea typeface="Trebuchet MS"/>
                          <a:cs typeface="Trebuchet MS"/>
                        </a:rPr>
                        <a:t>Multinomial Naive Bayes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Counts, word n-grams 1-2</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Fast text baseline</a:t>
                      </a:r>
                    </a:p>
                  </a:txBody>
                  <a:tcPr marL="114300" marR="114300" marT="95250" marB="76200" anchor="ctr">
                    <a:solidFill>
                      <a:srgbClr val="FFFFFF"/>
                    </a:solidFill>
                  </a:tcPr>
                </a:tc>
              </a:tr>
              <a:tr h="666750">
                <a:tc>
                  <a:txBody>
                    <a:bodyPr/>
                    <a:lstStyle/>
                    <a:p>
                      <a:r>
                        <a:rPr sz="1800">
                          <a:solidFill>
                            <a:srgbClr val="333333"/>
                          </a:solidFill>
                          <a:latin typeface="Trebuchet MS"/>
                          <a:ea typeface="Trebuchet MS"/>
                          <a:cs typeface="Trebuchet MS"/>
                        </a:rPr>
                        <a:t>Balanced Linear SVM</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Counts 1-2 / 2-3, TF-IDF 1-2</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Sentiment and rating classes</a:t>
                      </a:r>
                    </a:p>
                  </a:txBody>
                  <a:tcPr marL="114300" marR="114300" marT="95250" marB="76200" anchor="ctr">
                    <a:solidFill>
                      <a:srgbClr val="FFFFFF"/>
                    </a:solidFill>
                  </a:tcPr>
                </a:tc>
              </a:tr>
              <a:tr h="666750">
                <a:tc>
                  <a:txBody>
                    <a:bodyPr/>
                    <a:lstStyle/>
                    <a:p>
                      <a:r>
                        <a:rPr sz="1800">
                          <a:solidFill>
                            <a:srgbClr val="333333"/>
                          </a:solidFill>
                          <a:latin typeface="Trebuchet MS"/>
                          <a:ea typeface="Trebuchet MS"/>
                          <a:cs typeface="Trebuchet MS"/>
                        </a:rPr>
                        <a:t>Ridge regression</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TF-IDF, word n-grams 1-2</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Numeric rating comparison</a:t>
                      </a:r>
                    </a:p>
                  </a:txBody>
                  <a:tcPr marL="114300" marR="114300" marT="95250" marB="76200" anchor="ctr">
                    <a:solidFill>
                      <a:srgbClr val="FFFFFF"/>
                    </a:solidFill>
                  </a:tcPr>
                </a:tc>
              </a:tr>
              <a:tr h="666750">
                <a:tc>
                  <a:txBody>
                    <a:bodyPr/>
                    <a:lstStyle/>
                    <a:p>
                      <a:r>
                        <a:rPr sz="1800">
                          <a:solidFill>
                            <a:srgbClr val="333333"/>
                          </a:solidFill>
                          <a:latin typeface="Trebuchet MS"/>
                          <a:ea typeface="Trebuchet MS"/>
                          <a:cs typeface="Trebuchet MS"/>
                        </a:rPr>
                        <a:t>Majority-class baseline</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Training class frequencies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Check class imbalance</a:t>
                      </a:r>
                    </a:p>
                  </a:txBody>
                  <a:tcPr marL="114300" marR="114300" marT="95250" marB="762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4273A510-6581-4B25-B15B-01B8224AEF7F}"/>
              </a:ext>
            </a:extLst>
          </p:cNvPr>
          <p:cNvSpPr>
            <a:spLocks xmlns:a="http://schemas.openxmlformats.org/drawingml/2006/main" noGrp="1"/>
          </p:cNvSpPr>
          <p:nvPr/>
        </p:nvSpPr>
        <p:spPr>
          <a:xfrm xmlns:a="http://schemas.openxmlformats.org/drawingml/2006/main">
            <a:off x="609600" y="52387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C65A2B"/>
                </a:solidFill>
                <a:latin typeface="Trebuchet MS"/>
                <a:ea typeface="Trebuchet MS"/>
                <a:cs typeface="Trebuchet MS"/>
              </a:defRPr>
            </a:pPr>
            <a:r>
              <a:rPr sz="1950" b="1">
                <a:solidFill>
                  <a:srgbClr val="C65A2B"/>
                </a:solidFill>
                <a:latin typeface="Trebuchet MS"/>
                <a:ea typeface="Trebuchet MS"/>
                <a:cs typeface="Trebuchet MS"/>
              </a:rPr>
              <a:t>1-2 stars: Negative      3 stars: Neutral      4-5 stars: Positive</a:t>
            </a:r>
          </a:p>
        </p:txBody>
      </p:sp>
      <p:sp>
        <p:nvSpPr>
          <p:cNvPr id="6" name="text-4">
            <a:extLst xmlns:a="http://schemas.openxmlformats.org/drawingml/2006/main">
              <a:ext uri="{FF2B5EF4-FFF2-40B4-BE49-F238E27FC236}">
                <a16:creationId xmlns:a16="http://schemas.microsoft.com/office/drawing/2014/main" id="{AD1CEFDA-13D4-400F-A088-C8A332A0698F}"/>
              </a:ext>
            </a:extLst>
          </p:cNvPr>
          <p:cNvSpPr>
            <a:spLocks xmlns:a="http://schemas.openxmlformats.org/drawingml/2006/main" noGrp="1"/>
          </p:cNvSpPr>
          <p:nvPr/>
        </p:nvSpPr>
        <p:spPr>
          <a:xfrm xmlns:a="http://schemas.openxmlformats.org/drawingml/2006/main">
            <a:off x="609600" y="5791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766E69"/>
                </a:solidFill>
                <a:latin typeface="Trebuchet MS"/>
                <a:ea typeface="Trebuchet MS"/>
                <a:cs typeface="Trebuchet MS"/>
              </a:defRPr>
            </a:pPr>
            <a:r>
              <a:rPr sz="1725" b="0">
                <a:solidFill>
                  <a:srgbClr val="766E69"/>
                </a:solidFill>
                <a:latin typeface="Trebuchet MS"/>
                <a:ea typeface="Trebuchet MS"/>
                <a:cs typeface="Trebuchet MS"/>
              </a:rPr>
              <a:t>Sentiment and rating use separate models. Missing ratings remain missing.</a:t>
            </a:r>
          </a:p>
        </p:txBody>
      </p:sp>
    </p:spTree>
    <p:extLst>
      <p:ext uri="{BB962C8B-B14F-4D97-AF65-F5344CB8AC3E}">
        <p14:creationId xmlns:p14="http://schemas.microsoft.com/office/powerpoint/2010/main" val="10135107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81909150-CD91-401F-AADC-B0D54489A109}"/>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Evaluation protocol</a:t>
            </a:r>
          </a:p>
        </p:txBody>
      </p:sp>
      <p:sp>
        <p:nvSpPr>
          <p:cNvPr id="2" name="text-1">
            <a:extLst xmlns:a="http://schemas.openxmlformats.org/drawingml/2006/main">
              <a:ext uri="{FF2B5EF4-FFF2-40B4-BE49-F238E27FC236}">
                <a16:creationId xmlns:a16="http://schemas.microsoft.com/office/drawing/2014/main" id="{BD3227C1-5819-496B-9B08-499950D880A9}"/>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CED3DC1C-79E1-43CC-A4C5-8A7D20A61D81}"/>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7</a:t>
            </a:r>
          </a:p>
        </p:txBody>
      </p:sp>
      <p:sp>
        <p:nvSpPr>
          <p:cNvPr id="4" name="text-3">
            <a:extLst xmlns:a="http://schemas.openxmlformats.org/drawingml/2006/main">
              <a:ext uri="{FF2B5EF4-FFF2-40B4-BE49-F238E27FC236}">
                <a16:creationId xmlns:a16="http://schemas.microsoft.com/office/drawing/2014/main" id="{E5390D98-4CF3-44B6-B630-129590E9C106}"/>
              </a:ext>
            </a:extLst>
          </p:cNvPr>
          <p:cNvSpPr>
            <a:spLocks xmlns:a="http://schemas.openxmlformats.org/drawingml/2006/main" noGrp="1"/>
          </p:cNvSpPr>
          <p:nvPr/>
        </p:nvSpPr>
        <p:spPr>
          <a:xfrm xmlns:a="http://schemas.openxmlformats.org/drawingml/2006/main">
            <a:off x="609600" y="15240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650" b="1">
                <a:solidFill>
                  <a:srgbClr val="C65A2B"/>
                </a:solidFill>
                <a:latin typeface="Trebuchet MS"/>
                <a:ea typeface="Trebuchet MS"/>
                <a:cs typeface="Trebuchet MS"/>
              </a:defRPr>
            </a:pPr>
            <a:r>
              <a:rPr sz="4650" b="1">
                <a:solidFill>
                  <a:srgbClr val="C65A2B"/>
                </a:solidFill>
                <a:latin typeface="Trebuchet MS"/>
                <a:ea typeface="Trebuchet MS"/>
                <a:cs typeface="Trebuchet MS"/>
              </a:rPr>
              <a:t>12,007</a:t>
            </a:r>
          </a:p>
        </p:txBody>
      </p:sp>
      <p:sp>
        <p:nvSpPr>
          <p:cNvPr id="5" name="text-4">
            <a:extLst xmlns:a="http://schemas.openxmlformats.org/drawingml/2006/main">
              <a:ext uri="{FF2B5EF4-FFF2-40B4-BE49-F238E27FC236}">
                <a16:creationId xmlns:a16="http://schemas.microsoft.com/office/drawing/2014/main" id="{4EF66B8D-A547-41FE-B620-1028F137AFA2}"/>
              </a:ext>
            </a:extLst>
          </p:cNvPr>
          <p:cNvSpPr>
            <a:spLocks xmlns:a="http://schemas.openxmlformats.org/drawingml/2006/main" noGrp="1"/>
          </p:cNvSpPr>
          <p:nvPr/>
        </p:nvSpPr>
        <p:spPr>
          <a:xfrm xmlns:a="http://schemas.openxmlformats.org/drawingml/2006/main">
            <a:off x="609600" y="25146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8B5842"/>
                </a:solidFill>
                <a:latin typeface="Trebuchet MS"/>
                <a:ea typeface="Trebuchet MS"/>
                <a:cs typeface="Trebuchet MS"/>
              </a:defRPr>
            </a:pPr>
            <a:r>
              <a:rPr sz="2250" b="1">
                <a:solidFill>
                  <a:srgbClr val="8B5842"/>
                </a:solidFill>
                <a:latin typeface="Trebuchet MS"/>
                <a:ea typeface="Trebuchet MS"/>
                <a:cs typeface="Trebuchet MS"/>
              </a:rPr>
              <a:t>Training</a:t>
            </a:r>
          </a:p>
        </p:txBody>
      </p:sp>
      <p:sp>
        <p:nvSpPr>
          <p:cNvPr id="6" name="text-5">
            <a:extLst xmlns:a="http://schemas.openxmlformats.org/drawingml/2006/main">
              <a:ext uri="{FF2B5EF4-FFF2-40B4-BE49-F238E27FC236}">
                <a16:creationId xmlns:a16="http://schemas.microsoft.com/office/drawing/2014/main" id="{60947F52-C736-4960-83EB-3576090FA029}"/>
              </a:ext>
            </a:extLst>
          </p:cNvPr>
          <p:cNvSpPr>
            <a:spLocks xmlns:a="http://schemas.openxmlformats.org/drawingml/2006/main" noGrp="1"/>
          </p:cNvSpPr>
          <p:nvPr/>
        </p:nvSpPr>
        <p:spPr>
          <a:xfrm xmlns:a="http://schemas.openxmlformats.org/drawingml/2006/main">
            <a:off x="609600" y="30575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333333"/>
                </a:solidFill>
                <a:latin typeface="Trebuchet MS"/>
                <a:ea typeface="Trebuchet MS"/>
                <a:cs typeface="Trebuchet MS"/>
              </a:defRPr>
            </a:pPr>
            <a:r>
              <a:rPr sz="1950" b="0">
                <a:solidFill>
                  <a:srgbClr val="333333"/>
                </a:solidFill>
                <a:latin typeface="Trebuchet MS"/>
                <a:ea typeface="Trebuchet MS"/>
                <a:cs typeface="Trebuchet MS"/>
              </a:rPr>
              <a:t>Fit vocabulary and models</a:t>
            </a:r>
          </a:p>
        </p:txBody>
      </p:sp>
      <p:sp>
        <p:nvSpPr>
          <p:cNvPr id="7" name="text-6">
            <a:extLst xmlns:a="http://schemas.openxmlformats.org/drawingml/2006/main">
              <a:ext uri="{FF2B5EF4-FFF2-40B4-BE49-F238E27FC236}">
                <a16:creationId xmlns:a16="http://schemas.microsoft.com/office/drawing/2014/main" id="{072652CA-350D-4FC6-BAC4-8E70E1BE65E0}"/>
              </a:ext>
            </a:extLst>
          </p:cNvPr>
          <p:cNvSpPr>
            <a:spLocks xmlns:a="http://schemas.openxmlformats.org/drawingml/2006/main" noGrp="1"/>
          </p:cNvSpPr>
          <p:nvPr/>
        </p:nvSpPr>
        <p:spPr>
          <a:xfrm xmlns:a="http://schemas.openxmlformats.org/drawingml/2006/main">
            <a:off x="4362450" y="15240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650" b="1">
                <a:solidFill>
                  <a:srgbClr val="C65A2B"/>
                </a:solidFill>
                <a:latin typeface="Trebuchet MS"/>
                <a:ea typeface="Trebuchet MS"/>
                <a:cs typeface="Trebuchet MS"/>
              </a:defRPr>
            </a:pPr>
            <a:r>
              <a:rPr sz="4650" b="1">
                <a:solidFill>
                  <a:srgbClr val="C65A2B"/>
                </a:solidFill>
                <a:latin typeface="Trebuchet MS"/>
                <a:ea typeface="Trebuchet MS"/>
                <a:cs typeface="Trebuchet MS"/>
              </a:rPr>
              <a:t>3,986</a:t>
            </a:r>
          </a:p>
        </p:txBody>
      </p:sp>
      <p:sp>
        <p:nvSpPr>
          <p:cNvPr id="8" name="text-7">
            <a:extLst xmlns:a="http://schemas.openxmlformats.org/drawingml/2006/main">
              <a:ext uri="{FF2B5EF4-FFF2-40B4-BE49-F238E27FC236}">
                <a16:creationId xmlns:a16="http://schemas.microsoft.com/office/drawing/2014/main" id="{469B4D36-F786-4D26-892B-CB090202D033}"/>
              </a:ext>
            </a:extLst>
          </p:cNvPr>
          <p:cNvSpPr>
            <a:spLocks xmlns:a="http://schemas.openxmlformats.org/drawingml/2006/main" noGrp="1"/>
          </p:cNvSpPr>
          <p:nvPr/>
        </p:nvSpPr>
        <p:spPr>
          <a:xfrm xmlns:a="http://schemas.openxmlformats.org/drawingml/2006/main">
            <a:off x="4362450" y="25146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8B5842"/>
                </a:solidFill>
                <a:latin typeface="Trebuchet MS"/>
                <a:ea typeface="Trebuchet MS"/>
                <a:cs typeface="Trebuchet MS"/>
              </a:defRPr>
            </a:pPr>
            <a:r>
              <a:rPr sz="2250" b="1">
                <a:solidFill>
                  <a:srgbClr val="8B5842"/>
                </a:solidFill>
                <a:latin typeface="Trebuchet MS"/>
                <a:ea typeface="Trebuchet MS"/>
                <a:cs typeface="Trebuchet MS"/>
              </a:rPr>
              <a:t>Validation</a:t>
            </a:r>
          </a:p>
        </p:txBody>
      </p:sp>
      <p:sp>
        <p:nvSpPr>
          <p:cNvPr id="9" name="text-8">
            <a:extLst xmlns:a="http://schemas.openxmlformats.org/drawingml/2006/main">
              <a:ext uri="{FF2B5EF4-FFF2-40B4-BE49-F238E27FC236}">
                <a16:creationId xmlns:a16="http://schemas.microsoft.com/office/drawing/2014/main" id="{C4D22985-927A-49CF-B82C-BAC6D863255F}"/>
              </a:ext>
            </a:extLst>
          </p:cNvPr>
          <p:cNvSpPr>
            <a:spLocks xmlns:a="http://schemas.openxmlformats.org/drawingml/2006/main" noGrp="1"/>
          </p:cNvSpPr>
          <p:nvPr/>
        </p:nvSpPr>
        <p:spPr>
          <a:xfrm xmlns:a="http://schemas.openxmlformats.org/drawingml/2006/main">
            <a:off x="4362450" y="30575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333333"/>
                </a:solidFill>
                <a:latin typeface="Trebuchet MS"/>
                <a:ea typeface="Trebuchet MS"/>
                <a:cs typeface="Trebuchet MS"/>
              </a:defRPr>
            </a:pPr>
            <a:r>
              <a:rPr sz="1950" b="0">
                <a:solidFill>
                  <a:srgbClr val="333333"/>
                </a:solidFill>
                <a:latin typeface="Trebuchet MS"/>
                <a:ea typeface="Trebuchet MS"/>
                <a:cs typeface="Trebuchet MS"/>
              </a:rPr>
              <a:t>Choose by macro-F1</a:t>
            </a:r>
          </a:p>
        </p:txBody>
      </p:sp>
      <p:sp>
        <p:nvSpPr>
          <p:cNvPr id="10" name="text-9">
            <a:extLst xmlns:a="http://schemas.openxmlformats.org/drawingml/2006/main">
              <a:ext uri="{FF2B5EF4-FFF2-40B4-BE49-F238E27FC236}">
                <a16:creationId xmlns:a16="http://schemas.microsoft.com/office/drawing/2014/main" id="{17995AC5-E50F-4447-ABEF-BEF680A507A4}"/>
              </a:ext>
            </a:extLst>
          </p:cNvPr>
          <p:cNvSpPr>
            <a:spLocks xmlns:a="http://schemas.openxmlformats.org/drawingml/2006/main" noGrp="1"/>
          </p:cNvSpPr>
          <p:nvPr/>
        </p:nvSpPr>
        <p:spPr>
          <a:xfrm xmlns:a="http://schemas.openxmlformats.org/drawingml/2006/main">
            <a:off x="8115300" y="15240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650" b="1">
                <a:solidFill>
                  <a:srgbClr val="C65A2B"/>
                </a:solidFill>
                <a:latin typeface="Trebuchet MS"/>
                <a:ea typeface="Trebuchet MS"/>
                <a:cs typeface="Trebuchet MS"/>
              </a:defRPr>
            </a:pPr>
            <a:r>
              <a:rPr sz="4650" b="1">
                <a:solidFill>
                  <a:srgbClr val="C65A2B"/>
                </a:solidFill>
                <a:latin typeface="Trebuchet MS"/>
                <a:ea typeface="Trebuchet MS"/>
                <a:cs typeface="Trebuchet MS"/>
              </a:rPr>
              <a:t>4,007</a:t>
            </a:r>
          </a:p>
        </p:txBody>
      </p:sp>
      <p:sp>
        <p:nvSpPr>
          <p:cNvPr id="11" name="text-10">
            <a:extLst xmlns:a="http://schemas.openxmlformats.org/drawingml/2006/main">
              <a:ext uri="{FF2B5EF4-FFF2-40B4-BE49-F238E27FC236}">
                <a16:creationId xmlns:a16="http://schemas.microsoft.com/office/drawing/2014/main" id="{19FF5AE2-925A-470B-8529-1B682E171A14}"/>
              </a:ext>
            </a:extLst>
          </p:cNvPr>
          <p:cNvSpPr>
            <a:spLocks xmlns:a="http://schemas.openxmlformats.org/drawingml/2006/main" noGrp="1"/>
          </p:cNvSpPr>
          <p:nvPr/>
        </p:nvSpPr>
        <p:spPr>
          <a:xfrm xmlns:a="http://schemas.openxmlformats.org/drawingml/2006/main">
            <a:off x="8115300" y="25146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8B5842"/>
                </a:solidFill>
                <a:latin typeface="Trebuchet MS"/>
                <a:ea typeface="Trebuchet MS"/>
                <a:cs typeface="Trebuchet MS"/>
              </a:defRPr>
            </a:pPr>
            <a:r>
              <a:rPr sz="2250" b="1">
                <a:solidFill>
                  <a:srgbClr val="8B5842"/>
                </a:solidFill>
                <a:latin typeface="Trebuchet MS"/>
                <a:ea typeface="Trebuchet MS"/>
                <a:cs typeface="Trebuchet MS"/>
              </a:rPr>
              <a:t>Test</a:t>
            </a:r>
          </a:p>
        </p:txBody>
      </p:sp>
      <p:sp>
        <p:nvSpPr>
          <p:cNvPr id="12" name="text-11">
            <a:extLst xmlns:a="http://schemas.openxmlformats.org/drawingml/2006/main">
              <a:ext uri="{FF2B5EF4-FFF2-40B4-BE49-F238E27FC236}">
                <a16:creationId xmlns:a16="http://schemas.microsoft.com/office/drawing/2014/main" id="{90E5428A-D4A2-43CE-A95A-D9A078F717F1}"/>
              </a:ext>
            </a:extLst>
          </p:cNvPr>
          <p:cNvSpPr>
            <a:spLocks xmlns:a="http://schemas.openxmlformats.org/drawingml/2006/main" noGrp="1"/>
          </p:cNvSpPr>
          <p:nvPr/>
        </p:nvSpPr>
        <p:spPr>
          <a:xfrm xmlns:a="http://schemas.openxmlformats.org/drawingml/2006/main">
            <a:off x="8115300" y="30575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333333"/>
                </a:solidFill>
                <a:latin typeface="Trebuchet MS"/>
                <a:ea typeface="Trebuchet MS"/>
                <a:cs typeface="Trebuchet MS"/>
              </a:defRPr>
            </a:pPr>
            <a:r>
              <a:rPr sz="1950" b="0">
                <a:solidFill>
                  <a:srgbClr val="333333"/>
                </a:solidFill>
                <a:latin typeface="Trebuchet MS"/>
                <a:ea typeface="Trebuchet MS"/>
                <a:cs typeface="Trebuchet MS"/>
              </a:rPr>
              <a:t>Report held-out scores</a:t>
            </a:r>
          </a:p>
        </p:txBody>
      </p:sp>
      <p:sp>
        <p:nvSpPr>
          <p:cNvPr id="13" name="text-12">
            <a:extLst xmlns:a="http://schemas.openxmlformats.org/drawingml/2006/main">
              <a:ext uri="{FF2B5EF4-FFF2-40B4-BE49-F238E27FC236}">
                <a16:creationId xmlns:a16="http://schemas.microsoft.com/office/drawing/2014/main" id="{472F166B-37BE-4832-9B5A-6F20A08FD1F5}"/>
              </a:ext>
            </a:extLst>
          </p:cNvPr>
          <p:cNvSpPr>
            <a:spLocks xmlns:a="http://schemas.openxmlformats.org/drawingml/2006/main" noGrp="1"/>
          </p:cNvSpPr>
          <p:nvPr/>
        </p:nvSpPr>
        <p:spPr>
          <a:xfrm xmlns:a="http://schemas.openxmlformats.org/drawingml/2006/main">
            <a:off x="609600" y="4171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Metrics</a:t>
            </a:r>
          </a:p>
        </p:txBody>
      </p:sp>
      <p:sp>
        <p:nvSpPr>
          <p:cNvPr id="14" name="text-13">
            <a:extLst xmlns:a="http://schemas.openxmlformats.org/drawingml/2006/main">
              <a:ext uri="{FF2B5EF4-FFF2-40B4-BE49-F238E27FC236}">
                <a16:creationId xmlns:a16="http://schemas.microsoft.com/office/drawing/2014/main" id="{3A24B8AF-CC45-4505-8A16-F3500FE33ABC}"/>
              </a:ext>
            </a:extLst>
          </p:cNvPr>
          <p:cNvSpPr>
            <a:spLocks xmlns:a="http://schemas.openxmlformats.org/drawingml/2006/main" noGrp="1"/>
          </p:cNvSpPr>
          <p:nvPr/>
        </p:nvSpPr>
        <p:spPr>
          <a:xfrm xmlns:a="http://schemas.openxmlformats.org/drawingml/2006/main">
            <a:off x="609600" y="45815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Sentiment: accuracy, macro-F1, and class recall.</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Ratings: exact star accuracy and mean absolute error.</a:t>
            </a:r>
          </a:p>
        </p:txBody>
      </p:sp>
      <p:sp>
        <p:nvSpPr>
          <p:cNvPr id="15" name="text-14">
            <a:extLst xmlns:a="http://schemas.openxmlformats.org/drawingml/2006/main">
              <a:ext uri="{FF2B5EF4-FFF2-40B4-BE49-F238E27FC236}">
                <a16:creationId xmlns:a16="http://schemas.microsoft.com/office/drawing/2014/main" id="{311859C0-7564-442E-A5FF-74752D3986D4}"/>
              </a:ext>
            </a:extLst>
          </p:cNvPr>
          <p:cNvSpPr>
            <a:spLocks xmlns:a="http://schemas.openxmlformats.org/drawingml/2006/main" noGrp="1"/>
          </p:cNvSpPr>
          <p:nvPr/>
        </p:nvSpPr>
        <p:spPr>
          <a:xfrm xmlns:a="http://schemas.openxmlformats.org/drawingml/2006/main">
            <a:off x="609600" y="56578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766E69"/>
                </a:solidFill>
                <a:latin typeface="Trebuchet MS"/>
                <a:ea typeface="Trebuchet MS"/>
                <a:cs typeface="Trebuchet MS"/>
              </a:defRPr>
            </a:pPr>
            <a:r>
              <a:rPr sz="1725" b="0">
                <a:solidFill>
                  <a:srgbClr val="766E69"/>
                </a:solidFill>
                <a:latin typeface="Trebuchet MS"/>
                <a:ea typeface="Trebuchet MS"/>
                <a:cs typeface="Trebuchet MS"/>
              </a:rPr>
              <a:t>Full-review baseline. Excerpt inference needs a separate evaluation.</a:t>
            </a:r>
          </a:p>
          <a:p xmlns:a="http://schemas.openxmlformats.org/drawingml/2006/main">
            <a:pPr>
              <a:defRPr sz="1725" b="0">
                <a:solidFill>
                  <a:srgbClr val="766E69"/>
                </a:solidFill>
                <a:latin typeface="Trebuchet MS"/>
                <a:ea typeface="Trebuchet MS"/>
                <a:cs typeface="Trebuchet MS"/>
              </a:defRPr>
            </a:pPr>
            <a:r>
              <a:rPr sz="1725" b="0">
                <a:solidFill>
                  <a:srgbClr val="766E69"/>
                </a:solidFill>
                <a:latin typeface="Trebuchet MS"/>
                <a:ea typeface="Trebuchet MS"/>
                <a:cs typeface="Trebuchet MS"/>
              </a:rPr>
              <a:t>A hotel-independent study needs verified hotel IDs.</a:t>
            </a:r>
          </a:p>
        </p:txBody>
      </p:sp>
    </p:spTree>
    <p:extLst>
      <p:ext uri="{BB962C8B-B14F-4D97-AF65-F5344CB8AC3E}">
        <p14:creationId xmlns:p14="http://schemas.microsoft.com/office/powerpoint/2010/main" val="10478608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2FCAFD9-B63C-4791-9EA8-B31D9DE92624}"/>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Full-review sentiment results</a:t>
            </a:r>
          </a:p>
        </p:txBody>
      </p:sp>
      <p:sp>
        <p:nvSpPr>
          <p:cNvPr id="2" name="text-1">
            <a:extLst xmlns:a="http://schemas.openxmlformats.org/drawingml/2006/main">
              <a:ext uri="{FF2B5EF4-FFF2-40B4-BE49-F238E27FC236}">
                <a16:creationId xmlns:a16="http://schemas.microsoft.com/office/drawing/2014/main" id="{2842D2AA-1549-4B98-8549-139154269E8C}"/>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A4BB140D-2544-48A5-9446-01655D47AE18}"/>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8</a:t>
            </a:r>
          </a:p>
        </p:txBody>
      </p:sp>
      <p:graphicFrame>
        <p:nvGraphicFramePr>
          <p:cNvPr id="9" name="Chart"/>
          <p:cNvGraphicFramePr/>
          <p:nvPr/>
        </p:nvGraphicFramePr>
        <p:xfrm>
          <a:off xmlns:a="http://schemas.openxmlformats.org/drawingml/2006/main" x="609600" y="1466850"/>
          <a:ext xmlns:a="http://schemas.openxmlformats.org/drawingml/2006/main" cx="10972800" cy="3857625"/>
        </p:xfrm>
        <a:graphic xmlns:a="http://schemas.openxmlformats.org/drawingml/2006/main">
          <a:graphicData uri="http://schemas.openxmlformats.org/drawingml/2006/chart">
            <c:chart xmlns:r="http://schemas.openxmlformats.org/officeDocument/2006/relationships" xmlns:c="http://schemas.openxmlformats.org/drawingml/2006/chart" r:id="R6aa2a3d66d2b4ac8"/>
          </a:graphicData>
        </a:graphic>
      </p:graphicFrame>
      <p:sp>
        <p:nvSpPr>
          <p:cNvPr id="5" name="text-3">
            <a:extLst xmlns:a="http://schemas.openxmlformats.org/drawingml/2006/main">
              <a:ext uri="{FF2B5EF4-FFF2-40B4-BE49-F238E27FC236}">
                <a16:creationId xmlns:a16="http://schemas.microsoft.com/office/drawing/2014/main" id="{01BFE2EA-A45F-478D-9868-BB46ECDE6E9F}"/>
              </a:ext>
            </a:extLst>
          </p:cNvPr>
          <p:cNvSpPr>
            <a:spLocks xmlns:a="http://schemas.openxmlformats.org/drawingml/2006/main" noGrp="1"/>
          </p:cNvSpPr>
          <p:nvPr/>
        </p:nvSpPr>
        <p:spPr>
          <a:xfrm xmlns:a="http://schemas.openxmlformats.org/drawingml/2006/main">
            <a:off x="609600" y="56292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C65A2B"/>
                </a:solidFill>
                <a:latin typeface="Trebuchet MS"/>
                <a:ea typeface="Trebuchet MS"/>
                <a:cs typeface="Trebuchet MS"/>
              </a:defRPr>
            </a:pPr>
            <a:r>
              <a:rPr sz="2175" b="1">
                <a:solidFill>
                  <a:srgbClr val="C65A2B"/>
                </a:solidFill>
                <a:latin typeface="Trebuchet MS"/>
                <a:ea typeface="Trebuchet MS"/>
                <a:cs typeface="Trebuchet MS"/>
              </a:rPr>
              <a:t>Mean accuracy 81.1%      Mean macro-F1 0.602</a:t>
            </a:r>
          </a:p>
        </p:txBody>
      </p:sp>
    </p:spTree>
    <p:extLst>
      <p:ext uri="{BB962C8B-B14F-4D97-AF65-F5344CB8AC3E}">
        <p14:creationId xmlns:p14="http://schemas.microsoft.com/office/powerpoint/2010/main" val="16762997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4E35007-FD71-4C0B-A3C4-E0A1D4D9FDCB}"/>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Full-review rating results</a:t>
            </a:r>
          </a:p>
        </p:txBody>
      </p:sp>
      <p:sp>
        <p:nvSpPr>
          <p:cNvPr id="2" name="text-1">
            <a:extLst xmlns:a="http://schemas.openxmlformats.org/drawingml/2006/main">
              <a:ext uri="{FF2B5EF4-FFF2-40B4-BE49-F238E27FC236}">
                <a16:creationId xmlns:a16="http://schemas.microsoft.com/office/drawing/2014/main" id="{B511B4AC-9FC8-4081-87A1-755BB8765B6A}"/>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6810B59B-F69B-4AA5-BB9B-D7A89958DCC7}"/>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9</a:t>
            </a:r>
          </a:p>
        </p:txBody>
      </p:sp>
      <p:graphicFrame>
        <p:nvGraphicFramePr>
          <p:cNvPr id="9" name=""/>
          <p:cNvGraphicFramePr/>
          <p:nvPr/>
        </p:nvGraphicFramePr>
        <p:xfrm>
          <a:off xmlns:a="http://schemas.openxmlformats.org/drawingml/2006/main" x="609600" y="1524000"/>
          <a:ext xmlns:a="http://schemas.openxmlformats.org/drawingml/2006/main" cx="10972800" cy="3524250"/>
        </p:xfrm>
        <a:graphic xmlns:a="http://schemas.openxmlformats.org/drawingml/2006/main">
          <a:graphicData uri="http://schemas.openxmlformats.org/drawingml/2006/table">
            <a:tbl>
              <a:tblPr/>
              <a:tblGrid>
                <a:gridCol w="2819400"/>
                <a:gridCol w="2209800"/>
                <a:gridCol w="2038350"/>
                <a:gridCol w="3905250"/>
              </a:tblGrid>
              <a:tr h="587375">
                <a:tc>
                  <a:txBody>
                    <a:bodyPr/>
                    <a:lstStyle/>
                    <a:p>
                      <a:r>
                        <a:rPr sz="1725" b="1">
                          <a:solidFill>
                            <a:srgbClr val="8B5842"/>
                          </a:solidFill>
                          <a:latin typeface="Trebuchet MS"/>
                          <a:ea typeface="Trebuchet MS"/>
                          <a:cs typeface="Trebuchet MS"/>
                        </a:rPr>
                        <a:t>Aspect</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Exact accuracy</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MAE (stars)</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Selected model</a:t>
                      </a:r>
                    </a:p>
                  </a:txBody>
                  <a:tcPr marL="114300" marR="114300" marT="95250" marB="76200" anchor="ctr">
                    <a:solidFill>
                      <a:srgbClr val="F6F3F0"/>
                    </a:solidFill>
                  </a:tcPr>
                </a:tc>
              </a:tr>
              <a:tr h="587375">
                <a:tc>
                  <a:txBody>
                    <a:bodyPr/>
                    <a:lstStyle/>
                    <a:p>
                      <a:r>
                        <a:rPr sz="1800">
                          <a:solidFill>
                            <a:srgbClr val="333333"/>
                          </a:solidFill>
                          <a:latin typeface="Trebuchet MS"/>
                          <a:ea typeface="Trebuchet MS"/>
                          <a:cs typeface="Trebuchet MS"/>
                        </a:rPr>
                        <a:t>Rooms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56.4%</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0.521</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Naive Bayes counts</a:t>
                      </a:r>
                    </a:p>
                  </a:txBody>
                  <a:tcPr marL="114300" marR="114300" marT="95250" marB="76200" anchor="ctr">
                    <a:solidFill>
                      <a:srgbClr val="FFFFFF"/>
                    </a:solidFill>
                  </a:tcPr>
                </a:tc>
              </a:tr>
              <a:tr h="587375">
                <a:tc>
                  <a:txBody>
                    <a:bodyPr/>
                    <a:lstStyle/>
                    <a:p>
                      <a:r>
                        <a:rPr sz="1800">
                          <a:solidFill>
                            <a:srgbClr val="333333"/>
                          </a:solidFill>
                          <a:latin typeface="Trebuchet MS"/>
                          <a:ea typeface="Trebuchet MS"/>
                          <a:cs typeface="Trebuchet MS"/>
                        </a:rPr>
                        <a:t>Location</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62.6%</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0.477</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Naive Bayes counts</a:t>
                      </a:r>
                    </a:p>
                  </a:txBody>
                  <a:tcPr marL="114300" marR="114300" marT="95250" marB="76200" anchor="ctr">
                    <a:solidFill>
                      <a:srgbClr val="FFFFFF"/>
                    </a:solidFill>
                  </a:tcPr>
                </a:tc>
              </a:tr>
              <a:tr h="587375">
                <a:tc>
                  <a:txBody>
                    <a:bodyPr/>
                    <a:lstStyle/>
                    <a:p>
                      <a:r>
                        <a:rPr sz="1800">
                          <a:solidFill>
                            <a:srgbClr val="333333"/>
                          </a:solidFill>
                          <a:latin typeface="Trebuchet MS"/>
                          <a:ea typeface="Trebuchet MS"/>
                          <a:cs typeface="Trebuchet MS"/>
                        </a:rPr>
                        <a:t>Value</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51.7%</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0.591</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Naive Bayes counts</a:t>
                      </a:r>
                    </a:p>
                  </a:txBody>
                  <a:tcPr marL="114300" marR="114300" marT="95250" marB="76200" anchor="ctr">
                    <a:solidFill>
                      <a:srgbClr val="FFFFFF"/>
                    </a:solidFill>
                  </a:tcPr>
                </a:tc>
              </a:tr>
              <a:tr h="587375">
                <a:tc>
                  <a:txBody>
                    <a:bodyPr/>
                    <a:lstStyle/>
                    <a:p>
                      <a:r>
                        <a:rPr sz="1800">
                          <a:solidFill>
                            <a:srgbClr val="333333"/>
                          </a:solidFill>
                          <a:latin typeface="Trebuchet MS"/>
                          <a:ea typeface="Trebuchet MS"/>
                          <a:cs typeface="Trebuchet MS"/>
                        </a:rPr>
                        <a:t>Cleanliness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60.6%</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0.476</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SVM TF-IDF</a:t>
                      </a:r>
                    </a:p>
                  </a:txBody>
                  <a:tcPr marL="114300" marR="114300" marT="95250" marB="76200" anchor="ctr">
                    <a:solidFill>
                      <a:srgbClr val="FFFFFF"/>
                    </a:solidFill>
                  </a:tcPr>
                </a:tc>
              </a:tr>
              <a:tr h="587375">
                <a:tc>
                  <a:txBody>
                    <a:bodyPr/>
                    <a:lstStyle/>
                    <a:p>
                      <a:r>
                        <a:rPr sz="1800">
                          <a:solidFill>
                            <a:srgbClr val="333333"/>
                          </a:solidFill>
                          <a:latin typeface="Trebuchet MS"/>
                          <a:ea typeface="Trebuchet MS"/>
                          <a:cs typeface="Trebuchet MS"/>
                        </a:rPr>
                        <a:t>Sleep quality</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55.1%</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0.562</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Naive Bayes counts</a:t>
                      </a:r>
                    </a:p>
                  </a:txBody>
                  <a:tcPr marL="114300" marR="114300" marT="95250" marB="762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A8717F6A-D25E-4770-AC5A-17BB41D22FAC}"/>
              </a:ext>
            </a:extLst>
          </p:cNvPr>
          <p:cNvSpPr>
            <a:spLocks xmlns:a="http://schemas.openxmlformats.org/drawingml/2006/main" noGrp="1"/>
          </p:cNvSpPr>
          <p:nvPr/>
        </p:nvSpPr>
        <p:spPr>
          <a:xfrm xmlns:a="http://schemas.openxmlformats.org/drawingml/2006/main">
            <a:off x="609600" y="54673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C65A2B"/>
                </a:solidFill>
                <a:latin typeface="Trebuchet MS"/>
                <a:ea typeface="Trebuchet MS"/>
                <a:cs typeface="Trebuchet MS"/>
              </a:defRPr>
            </a:pPr>
            <a:r>
              <a:rPr sz="2175" b="1">
                <a:solidFill>
                  <a:srgbClr val="C65A2B"/>
                </a:solidFill>
                <a:latin typeface="Trebuchet MS"/>
                <a:ea typeface="Trebuchet MS"/>
                <a:cs typeface="Trebuchet MS"/>
              </a:rPr>
              <a:t>Mean exact rating accuracy: 57.3%</a:t>
            </a:r>
          </a:p>
        </p:txBody>
      </p:sp>
    </p:spTree>
    <p:extLst>
      <p:ext uri="{BB962C8B-B14F-4D97-AF65-F5344CB8AC3E}">
        <p14:creationId xmlns:p14="http://schemas.microsoft.com/office/powerpoint/2010/main" val="8652466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F0F417B-21EB-4748-B48C-D00494FE2833}"/>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Why accuracy alone is insufficient</a:t>
            </a:r>
          </a:p>
        </p:txBody>
      </p:sp>
      <p:sp>
        <p:nvSpPr>
          <p:cNvPr id="2" name="text-1">
            <a:extLst xmlns:a="http://schemas.openxmlformats.org/drawingml/2006/main">
              <a:ext uri="{FF2B5EF4-FFF2-40B4-BE49-F238E27FC236}">
                <a16:creationId xmlns:a16="http://schemas.microsoft.com/office/drawing/2014/main" id="{00393E19-9EEF-43F1-BE82-0F815F90644A}"/>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4FFF898A-17DF-4DE8-B825-E186F65E7049}"/>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10</a:t>
            </a:r>
          </a:p>
        </p:txBody>
      </p:sp>
      <p:sp>
        <p:nvSpPr>
          <p:cNvPr id="4" name="text-3">
            <a:extLst xmlns:a="http://schemas.openxmlformats.org/drawingml/2006/main">
              <a:ext uri="{FF2B5EF4-FFF2-40B4-BE49-F238E27FC236}">
                <a16:creationId xmlns:a16="http://schemas.microsoft.com/office/drawing/2014/main" id="{AE828C72-3EC6-431B-8516-772C8377343C}"/>
              </a:ext>
            </a:extLst>
          </p:cNvPr>
          <p:cNvSpPr>
            <a:spLocks xmlns:a="http://schemas.openxmlformats.org/drawingml/2006/main" noGrp="1"/>
          </p:cNvSpPr>
          <p:nvPr/>
        </p:nvSpPr>
        <p:spPr>
          <a:xfrm xmlns:a="http://schemas.openxmlformats.org/drawingml/2006/main">
            <a:off x="609600" y="1457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C65A2B"/>
                </a:solidFill>
                <a:latin typeface="Trebuchet MS"/>
                <a:ea typeface="Trebuchet MS"/>
                <a:cs typeface="Trebuchet MS"/>
              </a:defRPr>
            </a:pPr>
            <a:r>
              <a:rPr sz="2175" b="1">
                <a:solidFill>
                  <a:srgbClr val="C65A2B"/>
                </a:solidFill>
                <a:latin typeface="Trebuchet MS"/>
                <a:ea typeface="Trebuchet MS"/>
                <a:cs typeface="Trebuchet MS"/>
              </a:rPr>
              <a:t>Location reviews are strongly skewed toward Positive</a:t>
            </a:r>
          </a:p>
        </p:txBody>
      </p:sp>
      <p:graphicFrame>
        <p:nvGraphicFramePr>
          <p:cNvPr id="11" name=""/>
          <p:cNvGraphicFramePr/>
          <p:nvPr/>
        </p:nvGraphicFramePr>
        <p:xfrm>
          <a:off xmlns:a="http://schemas.openxmlformats.org/drawingml/2006/main" x="609600" y="2362200"/>
          <a:ext xmlns:a="http://schemas.openxmlformats.org/drawingml/2006/main" cx="10972800" cy="2009775"/>
        </p:xfrm>
        <a:graphic xmlns:a="http://schemas.openxmlformats.org/drawingml/2006/main">
          <a:graphicData uri="http://schemas.openxmlformats.org/drawingml/2006/table">
            <a:tbl>
              <a:tblPr/>
              <a:tblGrid>
                <a:gridCol w="5143500"/>
                <a:gridCol w="2914650"/>
                <a:gridCol w="2914650"/>
              </a:tblGrid>
              <a:tr h="669925">
                <a:tc>
                  <a:txBody>
                    <a:bodyPr/>
                    <a:lstStyle/>
                    <a:p>
                      <a:r>
                        <a:rPr sz="1725" b="1">
                          <a:solidFill>
                            <a:srgbClr val="8B5842"/>
                          </a:solidFill>
                          <a:latin typeface="Trebuchet MS"/>
                          <a:ea typeface="Trebuchet MS"/>
                          <a:cs typeface="Trebuchet MS"/>
                        </a:rPr>
                        <a:t>Location sentiment</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Accuracy</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Macro-F1</a:t>
                      </a:r>
                    </a:p>
                  </a:txBody>
                  <a:tcPr marL="114300" marR="114300" marT="95250" marB="76200" anchor="ctr">
                    <a:solidFill>
                      <a:srgbClr val="F6F3F0"/>
                    </a:solidFill>
                  </a:tcPr>
                </a:tc>
              </a:tr>
              <a:tr h="669925">
                <a:tc>
                  <a:txBody>
                    <a:bodyPr/>
                    <a:lstStyle/>
                    <a:p>
                      <a:r>
                        <a:rPr sz="1800">
                          <a:solidFill>
                            <a:srgbClr val="333333"/>
                          </a:solidFill>
                          <a:latin typeface="Trebuchet MS"/>
                          <a:ea typeface="Trebuchet MS"/>
                          <a:cs typeface="Trebuchet MS"/>
                        </a:rPr>
                        <a:t>Majority-class baseline</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86.9%</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0.310</a:t>
                      </a:r>
                    </a:p>
                  </a:txBody>
                  <a:tcPr marL="114300" marR="114300" marT="95250" marB="76200" anchor="ctr">
                    <a:solidFill>
                      <a:srgbClr val="FFFFFF"/>
                    </a:solidFill>
                  </a:tcPr>
                </a:tc>
              </a:tr>
              <a:tr h="669925">
                <a:tc>
                  <a:txBody>
                    <a:bodyPr/>
                    <a:lstStyle/>
                    <a:p>
                      <a:r>
                        <a:rPr sz="1800">
                          <a:solidFill>
                            <a:srgbClr val="333333"/>
                          </a:solidFill>
                          <a:latin typeface="Trebuchet MS"/>
                          <a:ea typeface="Trebuchet MS"/>
                          <a:cs typeface="Trebuchet MS"/>
                        </a:rPr>
                        <a:t>Selected Naive Bayes model</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81.7%</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0.513</a:t>
                      </a:r>
                    </a:p>
                  </a:txBody>
                  <a:tcPr marL="114300" marR="114300" marT="9525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D751F30F-D94F-46C1-AA7B-F29D8FD4A47C}"/>
              </a:ext>
            </a:extLst>
          </p:cNvPr>
          <p:cNvSpPr>
            <a:spLocks xmlns:a="http://schemas.openxmlformats.org/drawingml/2006/main" noGrp="1"/>
          </p:cNvSpPr>
          <p:nvPr/>
        </p:nvSpPr>
        <p:spPr>
          <a:xfrm xmlns:a="http://schemas.openxmlformats.org/drawingml/2006/main">
            <a:off x="609600" y="4857750"/>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33333"/>
                </a:solidFill>
                <a:latin typeface="Trebuchet MS"/>
                <a:ea typeface="Trebuchet MS"/>
                <a:cs typeface="Trebuchet MS"/>
              </a:defRPr>
            </a:pPr>
            <a:r>
              <a:rPr sz="2175" b="0">
                <a:solidFill>
                  <a:srgbClr val="333333"/>
                </a:solidFill>
                <a:latin typeface="Trebuchet MS"/>
                <a:ea typeface="Trebuchet MS"/>
                <a:cs typeface="Trebuchet MS"/>
              </a:rPr>
              <a:t>Macro-F1 gives Negative and Neutral the same importance as Positive.</a:t>
            </a:r>
          </a:p>
          <a:p xmlns:a="http://schemas.openxmlformats.org/drawingml/2006/main">
            <a:pPr>
              <a:defRPr sz="2175" b="0">
                <a:solidFill>
                  <a:srgbClr val="333333"/>
                </a:solidFill>
                <a:latin typeface="Trebuchet MS"/>
                <a:ea typeface="Trebuchet MS"/>
                <a:cs typeface="Trebuchet MS"/>
              </a:defRPr>
            </a:pPr>
            <a:r>
              <a:rPr sz="2175" b="0">
                <a:solidFill>
                  <a:srgbClr val="333333"/>
                </a:solidFill>
                <a:latin typeface="Trebuchet MS"/>
                <a:ea typeface="Trebuchet MS"/>
                <a:cs typeface="Trebuchet MS"/>
              </a:rPr>
              <a:t>We report both metrics to make the tradeoff visible.</a:t>
            </a:r>
          </a:p>
        </p:txBody>
      </p:sp>
    </p:spTree>
    <p:extLst>
      <p:ext uri="{BB962C8B-B14F-4D97-AF65-F5344CB8AC3E}">
        <p14:creationId xmlns:p14="http://schemas.microsoft.com/office/powerpoint/2010/main" val="1162354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76EDBA4-D76E-4A36-AE82-75FBE1950652}"/>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Live demonstration</a:t>
            </a:r>
          </a:p>
        </p:txBody>
      </p:sp>
      <p:sp>
        <p:nvSpPr>
          <p:cNvPr id="2" name="text-1">
            <a:extLst xmlns:a="http://schemas.openxmlformats.org/drawingml/2006/main">
              <a:ext uri="{FF2B5EF4-FFF2-40B4-BE49-F238E27FC236}">
                <a16:creationId xmlns:a16="http://schemas.microsoft.com/office/drawing/2014/main" id="{23C8B2A9-76CE-4532-84CA-F30B86939633}"/>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FE94D0C9-370C-46E3-A0D2-326197B0D4A0}"/>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11</a:t>
            </a:r>
          </a:p>
        </p:txBody>
      </p:sp>
      <p:sp>
        <p:nvSpPr>
          <p:cNvPr id="4" name="text-3">
            <a:extLst xmlns:a="http://schemas.openxmlformats.org/drawingml/2006/main">
              <a:ext uri="{FF2B5EF4-FFF2-40B4-BE49-F238E27FC236}">
                <a16:creationId xmlns:a16="http://schemas.microsoft.com/office/drawing/2014/main" id="{B08E0314-F232-4163-B0A1-E2CB1B5F595D}"/>
              </a:ext>
            </a:extLst>
          </p:cNvPr>
          <p:cNvSpPr>
            <a:spLocks xmlns:a="http://schemas.openxmlformats.org/drawingml/2006/main" noGrp="1"/>
          </p:cNvSpPr>
          <p:nvPr/>
        </p:nvSpPr>
        <p:spPr>
          <a:xfrm xmlns:a="http://schemas.openxmlformats.org/drawingml/2006/main">
            <a:off x="609600" y="15525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01</a:t>
            </a:r>
          </a:p>
        </p:txBody>
      </p:sp>
      <p:sp>
        <p:nvSpPr>
          <p:cNvPr id="5" name="text-4">
            <a:extLst xmlns:a="http://schemas.openxmlformats.org/drawingml/2006/main">
              <a:ext uri="{FF2B5EF4-FFF2-40B4-BE49-F238E27FC236}">
                <a16:creationId xmlns:a16="http://schemas.microsoft.com/office/drawing/2014/main" id="{C11A942C-5B8E-4B92-9E71-341A1F097BD8}"/>
              </a:ext>
            </a:extLst>
          </p:cNvPr>
          <p:cNvSpPr>
            <a:spLocks xmlns:a="http://schemas.openxmlformats.org/drawingml/2006/main" noGrp="1"/>
          </p:cNvSpPr>
          <p:nvPr/>
        </p:nvSpPr>
        <p:spPr>
          <a:xfrm xmlns:a="http://schemas.openxmlformats.org/drawingml/2006/main">
            <a:off x="1371600" y="1552575"/>
            <a:ext cx="10077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Open the local demo and paste a hotel review.</a:t>
            </a:r>
          </a:p>
        </p:txBody>
      </p:sp>
      <p:sp>
        <p:nvSpPr>
          <p:cNvPr id="6" name="text-5">
            <a:extLst xmlns:a="http://schemas.openxmlformats.org/drawingml/2006/main">
              <a:ext uri="{FF2B5EF4-FFF2-40B4-BE49-F238E27FC236}">
                <a16:creationId xmlns:a16="http://schemas.microsoft.com/office/drawing/2014/main" id="{4080D671-AEC5-4C69-ACE7-5004E1DFFF08}"/>
              </a:ext>
            </a:extLst>
          </p:cNvPr>
          <p:cNvSpPr>
            <a:spLocks xmlns:a="http://schemas.openxmlformats.org/drawingml/2006/main" noGrp="1"/>
          </p:cNvSpPr>
          <p:nvPr/>
        </p:nvSpPr>
        <p:spPr>
          <a:xfrm xmlns:a="http://schemas.openxmlformats.org/drawingml/2006/main">
            <a:off x="609600" y="25336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02</a:t>
            </a:r>
          </a:p>
        </p:txBody>
      </p:sp>
      <p:sp>
        <p:nvSpPr>
          <p:cNvPr id="7" name="text-6">
            <a:extLst xmlns:a="http://schemas.openxmlformats.org/drawingml/2006/main">
              <a:ext uri="{FF2B5EF4-FFF2-40B4-BE49-F238E27FC236}">
                <a16:creationId xmlns:a16="http://schemas.microsoft.com/office/drawing/2014/main" id="{88222ABE-E31A-4ED3-8A7E-0B393F724551}"/>
              </a:ext>
            </a:extLst>
          </p:cNvPr>
          <p:cNvSpPr>
            <a:spLocks xmlns:a="http://schemas.openxmlformats.org/drawingml/2006/main" noGrp="1"/>
          </p:cNvSpPr>
          <p:nvPr/>
        </p:nvSpPr>
        <p:spPr>
          <a:xfrm xmlns:a="http://schemas.openxmlformats.org/drawingml/2006/main">
            <a:off x="1371600" y="2533650"/>
            <a:ext cx="10077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Compare the mixed, positive, and poor-stay examples.</a:t>
            </a:r>
          </a:p>
        </p:txBody>
      </p:sp>
      <p:sp>
        <p:nvSpPr>
          <p:cNvPr id="8" name="text-7">
            <a:extLst xmlns:a="http://schemas.openxmlformats.org/drawingml/2006/main">
              <a:ext uri="{FF2B5EF4-FFF2-40B4-BE49-F238E27FC236}">
                <a16:creationId xmlns:a16="http://schemas.microsoft.com/office/drawing/2014/main" id="{CABBBB8B-4AED-4E16-9797-E0AC1E4DCB87}"/>
              </a:ext>
            </a:extLst>
          </p:cNvPr>
          <p:cNvSpPr>
            <a:spLocks xmlns:a="http://schemas.openxmlformats.org/drawingml/2006/main" noGrp="1"/>
          </p:cNvSpPr>
          <p:nvPr/>
        </p:nvSpPr>
        <p:spPr>
          <a:xfrm xmlns:a="http://schemas.openxmlformats.org/drawingml/2006/main">
            <a:off x="609600" y="35147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03</a:t>
            </a:r>
          </a:p>
        </p:txBody>
      </p:sp>
      <p:sp>
        <p:nvSpPr>
          <p:cNvPr id="9" name="text-8">
            <a:extLst xmlns:a="http://schemas.openxmlformats.org/drawingml/2006/main">
              <a:ext uri="{FF2B5EF4-FFF2-40B4-BE49-F238E27FC236}">
                <a16:creationId xmlns:a16="http://schemas.microsoft.com/office/drawing/2014/main" id="{DBA56296-3CF8-4B9D-A4BB-528F06A21042}"/>
              </a:ext>
            </a:extLst>
          </p:cNvPr>
          <p:cNvSpPr>
            <a:spLocks xmlns:a="http://schemas.openxmlformats.org/drawingml/2006/main" noGrp="1"/>
          </p:cNvSpPr>
          <p:nvPr/>
        </p:nvSpPr>
        <p:spPr>
          <a:xfrm xmlns:a="http://schemas.openxmlformats.org/drawingml/2006/main">
            <a:off x="1371600" y="3514725"/>
            <a:ext cx="10077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Each mentioned aspect uses its matching excerpts.</a:t>
            </a:r>
          </a:p>
        </p:txBody>
      </p:sp>
      <p:sp>
        <p:nvSpPr>
          <p:cNvPr id="10" name="text-9">
            <a:extLst xmlns:a="http://schemas.openxmlformats.org/drawingml/2006/main">
              <a:ext uri="{FF2B5EF4-FFF2-40B4-BE49-F238E27FC236}">
                <a16:creationId xmlns:a16="http://schemas.microsoft.com/office/drawing/2014/main" id="{25F9F9B2-DF62-493E-B4E8-0B8584CA041C}"/>
              </a:ext>
            </a:extLst>
          </p:cNvPr>
          <p:cNvSpPr>
            <a:spLocks xmlns:a="http://schemas.openxmlformats.org/drawingml/2006/main" noGrp="1"/>
          </p:cNvSpPr>
          <p:nvPr/>
        </p:nvSpPr>
        <p:spPr>
          <a:xfrm xmlns:a="http://schemas.openxmlformats.org/drawingml/2006/main">
            <a:off x="609600" y="44958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04</a:t>
            </a:r>
          </a:p>
        </p:txBody>
      </p:sp>
      <p:sp>
        <p:nvSpPr>
          <p:cNvPr id="11" name="text-10">
            <a:extLst xmlns:a="http://schemas.openxmlformats.org/drawingml/2006/main">
              <a:ext uri="{FF2B5EF4-FFF2-40B4-BE49-F238E27FC236}">
                <a16:creationId xmlns:a16="http://schemas.microsoft.com/office/drawing/2014/main" id="{0AC86FD8-BB9C-4705-AABC-2A23330C110C}"/>
              </a:ext>
            </a:extLst>
          </p:cNvPr>
          <p:cNvSpPr>
            <a:spLocks xmlns:a="http://schemas.openxmlformats.org/drawingml/2006/main" noGrp="1"/>
          </p:cNvSpPr>
          <p:nvPr/>
        </p:nvSpPr>
        <p:spPr>
          <a:xfrm xmlns:a="http://schemas.openxmlformats.org/drawingml/2006/main">
            <a:off x="1371600" y="4495800"/>
            <a:ext cx="10077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33333"/>
                </a:solidFill>
                <a:latin typeface="Trebuchet MS"/>
                <a:ea typeface="Trebuchet MS"/>
                <a:cs typeface="Trebuchet MS"/>
              </a:defRPr>
            </a:pPr>
            <a:r>
              <a:rPr sz="2025" b="0">
                <a:solidFill>
                  <a:srgbClr val="333333"/>
                </a:solidFill>
                <a:latin typeface="Trebuchet MS"/>
                <a:ea typeface="Trebuchet MS"/>
                <a:cs typeface="Trebuchet MS"/>
              </a:rPr>
              <a:t>Explain the original full-review baseline metrics and remaining limits.</a:t>
            </a:r>
          </a:p>
        </p:txBody>
      </p:sp>
      <p:sp>
        <p:nvSpPr>
          <p:cNvPr id="12" name="text-11">
            <a:extLst xmlns:a="http://schemas.openxmlformats.org/drawingml/2006/main">
              <a:ext uri="{FF2B5EF4-FFF2-40B4-BE49-F238E27FC236}">
                <a16:creationId xmlns:a16="http://schemas.microsoft.com/office/drawing/2014/main" id="{0F858289-0031-48BB-B6DF-F32DE409ABF9}"/>
              </a:ext>
            </a:extLst>
          </p:cNvPr>
          <p:cNvSpPr>
            <a:spLocks xmlns:a="http://schemas.openxmlformats.org/drawingml/2006/main" noGrp="1"/>
          </p:cNvSpPr>
          <p:nvPr/>
        </p:nvSpPr>
        <p:spPr>
          <a:xfrm xmlns:a="http://schemas.openxmlformats.org/drawingml/2006/main">
            <a:off x="609600" y="56769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65A2B"/>
                </a:solidFill>
                <a:latin typeface="Trebuchet MS"/>
                <a:ea typeface="Trebuchet MS"/>
                <a:cs typeface="Trebuchet MS"/>
              </a:defRPr>
            </a:pPr>
            <a:r>
              <a:rPr sz="2250" b="1">
                <a:solidFill>
                  <a:srgbClr val="C65A2B"/>
                </a:solidFill>
                <a:latin typeface="Trebuchet MS"/>
                <a:ea typeface="Trebuchet MS"/>
                <a:cs typeface="Trebuchet MS"/>
              </a:rPr>
              <a:t>http://127.0.0.1:8000</a:t>
            </a:r>
          </a:p>
        </p:txBody>
      </p:sp>
    </p:spTree>
    <p:extLst>
      <p:ext uri="{BB962C8B-B14F-4D97-AF65-F5344CB8AC3E}">
        <p14:creationId xmlns:p14="http://schemas.microsoft.com/office/powerpoint/2010/main" val="10118473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FF19A1F-EDF0-4B3C-A602-23436D7463CE}"/>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Correction on a mixed review</a:t>
            </a:r>
          </a:p>
        </p:txBody>
      </p:sp>
      <p:sp>
        <p:nvSpPr>
          <p:cNvPr id="2" name="text-1">
            <a:extLst xmlns:a="http://schemas.openxmlformats.org/drawingml/2006/main">
              <a:ext uri="{FF2B5EF4-FFF2-40B4-BE49-F238E27FC236}">
                <a16:creationId xmlns:a16="http://schemas.microsoft.com/office/drawing/2014/main" id="{B55B6A50-DF0E-43E8-BEE3-526B4E7E74B3}"/>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B1EBEFAB-F788-48D5-AAE9-904C762DE39F}"/>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12</a:t>
            </a:r>
          </a:p>
        </p:txBody>
      </p:sp>
      <p:sp>
        <p:nvSpPr>
          <p:cNvPr id="4" name="text-3">
            <a:extLst xmlns:a="http://schemas.openxmlformats.org/drawingml/2006/main">
              <a:ext uri="{FF2B5EF4-FFF2-40B4-BE49-F238E27FC236}">
                <a16:creationId xmlns:a16="http://schemas.microsoft.com/office/drawing/2014/main" id="{12587E77-50A8-4E42-96D5-C46AC829EFB0}"/>
              </a:ext>
            </a:extLst>
          </p:cNvPr>
          <p:cNvSpPr>
            <a:spLocks xmlns:a="http://schemas.openxmlformats.org/drawingml/2006/main" noGrp="1"/>
          </p:cNvSpPr>
          <p:nvPr/>
        </p:nvSpPr>
        <p:spPr>
          <a:xfrm xmlns:a="http://schemas.openxmlformats.org/drawingml/2006/main">
            <a:off x="609600" y="14001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33333"/>
                </a:solidFill>
                <a:latin typeface="Trebuchet MS"/>
                <a:ea typeface="Trebuchet MS"/>
                <a:cs typeface="Trebuchet MS"/>
              </a:defRPr>
            </a:pPr>
            <a:r>
              <a:rPr sz="2175" b="0">
                <a:solidFill>
                  <a:srgbClr val="333333"/>
                </a:solidFill>
                <a:latin typeface="Trebuchet MS"/>
                <a:ea typeface="Trebuchet MS"/>
                <a:cs typeface="Trebuchet MS"/>
              </a:rPr>
              <a:t>“We did not sleep well in the uncomfortable bed” amid praise for other aspects</a:t>
            </a:r>
          </a:p>
        </p:txBody>
      </p:sp>
      <p:graphicFrame>
        <p:nvGraphicFramePr>
          <p:cNvPr id="11" name=""/>
          <p:cNvGraphicFramePr/>
          <p:nvPr/>
        </p:nvGraphicFramePr>
        <p:xfrm>
          <a:off xmlns:a="http://schemas.openxmlformats.org/drawingml/2006/main" x="609600" y="2657475"/>
          <a:ext xmlns:a="http://schemas.openxmlformats.org/drawingml/2006/main" cx="10972800" cy="2543175"/>
        </p:xfrm>
        <a:graphic xmlns:a="http://schemas.openxmlformats.org/drawingml/2006/main">
          <a:graphicData uri="http://schemas.openxmlformats.org/drawingml/2006/table">
            <a:tbl>
              <a:tblPr/>
              <a:tblGrid>
                <a:gridCol w="3067050"/>
                <a:gridCol w="3429000"/>
                <a:gridCol w="4476750"/>
              </a:tblGrid>
              <a:tr h="635794">
                <a:tc>
                  <a:txBody>
                    <a:bodyPr/>
                    <a:lstStyle/>
                    <a:p>
                      <a:r>
                        <a:rPr sz="1725" b="1">
                          <a:solidFill>
                            <a:srgbClr val="8B5842"/>
                          </a:solidFill>
                          <a:latin typeface="Trebuchet MS"/>
                          <a:ea typeface="Trebuchet MS"/>
                          <a:cs typeface="Trebuchet MS"/>
                        </a:rPr>
                        <a:t>Aspect</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Full-review input</a:t>
                      </a:r>
                    </a:p>
                  </a:txBody>
                  <a:tcPr marL="114300" marR="114300" marT="95250" marB="76200" anchor="ctr">
                    <a:solidFill>
                      <a:srgbClr val="F6F3F0"/>
                    </a:solidFill>
                  </a:tcPr>
                </a:tc>
                <a:tc>
                  <a:txBody>
                    <a:bodyPr/>
                    <a:lstStyle/>
                    <a:p>
                      <a:r>
                        <a:rPr sz="1725" b="1">
                          <a:solidFill>
                            <a:srgbClr val="8B5842"/>
                          </a:solidFill>
                          <a:latin typeface="Trebuchet MS"/>
                          <a:ea typeface="Trebuchet MS"/>
                          <a:cs typeface="Trebuchet MS"/>
                        </a:rPr>
                        <a:t>Aspect excerpt input</a:t>
                      </a:r>
                    </a:p>
                  </a:txBody>
                  <a:tcPr marL="114300" marR="114300" marT="95250" marB="76200" anchor="ctr">
                    <a:solidFill>
                      <a:srgbClr val="F6F3F0"/>
                    </a:solidFill>
                  </a:tcPr>
                </a:tc>
              </a:tr>
              <a:tr h="635794">
                <a:tc>
                  <a:txBody>
                    <a:bodyPr/>
                    <a:lstStyle/>
                    <a:p>
                      <a:r>
                        <a:rPr sz="1800">
                          <a:solidFill>
                            <a:srgbClr val="333333"/>
                          </a:solidFill>
                          <a:latin typeface="Trebuchet MS"/>
                          <a:ea typeface="Trebuchet MS"/>
                          <a:cs typeface="Trebuchet MS"/>
                        </a:rPr>
                        <a:t>Rooms</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Positive, 4/5</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Positive, 5/5</a:t>
                      </a:r>
                    </a:p>
                  </a:txBody>
                  <a:tcPr marL="114300" marR="114300" marT="95250" marB="76200" anchor="ctr">
                    <a:solidFill>
                      <a:srgbClr val="FFFFFF"/>
                    </a:solidFill>
                  </a:tcPr>
                </a:tc>
              </a:tr>
              <a:tr h="635794">
                <a:tc>
                  <a:txBody>
                    <a:bodyPr/>
                    <a:lstStyle/>
                    <a:p>
                      <a:r>
                        <a:rPr sz="1800">
                          <a:solidFill>
                            <a:srgbClr val="333333"/>
                          </a:solidFill>
                          <a:latin typeface="Trebuchet MS"/>
                          <a:ea typeface="Trebuchet MS"/>
                          <a:cs typeface="Trebuchet MS"/>
                        </a:rPr>
                        <a:t>Location</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Positive, 5/5</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Positive, 5/5</a:t>
                      </a:r>
                    </a:p>
                  </a:txBody>
                  <a:tcPr marL="114300" marR="114300" marT="95250" marB="76200" anchor="ctr">
                    <a:solidFill>
                      <a:srgbClr val="FFFFFF"/>
                    </a:solidFill>
                  </a:tcPr>
                </a:tc>
              </a:tr>
              <a:tr h="635794">
                <a:tc>
                  <a:txBody>
                    <a:bodyPr/>
                    <a:lstStyle/>
                    <a:p>
                      <a:r>
                        <a:rPr sz="1800">
                          <a:solidFill>
                            <a:srgbClr val="333333"/>
                          </a:solidFill>
                          <a:latin typeface="Trebuchet MS"/>
                          <a:ea typeface="Trebuchet MS"/>
                          <a:cs typeface="Trebuchet MS"/>
                        </a:rPr>
                        <a:t>Sleep quality</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Positive, 5/5</a:t>
                      </a:r>
                    </a:p>
                  </a:txBody>
                  <a:tcPr marL="114300" marR="114300" marT="95250" marB="76200" anchor="ctr">
                    <a:solidFill>
                      <a:srgbClr val="FFFFFF"/>
                    </a:solidFill>
                  </a:tcPr>
                </a:tc>
                <a:tc>
                  <a:txBody>
                    <a:bodyPr/>
                    <a:lstStyle/>
                    <a:p>
                      <a:r>
                        <a:rPr sz="1800">
                          <a:solidFill>
                            <a:srgbClr val="333333"/>
                          </a:solidFill>
                          <a:latin typeface="Trebuchet MS"/>
                          <a:ea typeface="Trebuchet MS"/>
                          <a:cs typeface="Trebuchet MS"/>
                        </a:rPr>
                        <a:t>Negative, 1/5</a:t>
                      </a:r>
                    </a:p>
                  </a:txBody>
                  <a:tcPr marL="114300" marR="114300" marT="9525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D6E1E510-18EE-4694-AD70-B0AEF05DAA54}"/>
              </a:ext>
            </a:extLst>
          </p:cNvPr>
          <p:cNvSpPr>
            <a:spLocks xmlns:a="http://schemas.openxmlformats.org/drawingml/2006/main" noGrp="1"/>
          </p:cNvSpPr>
          <p:nvPr/>
        </p:nvSpPr>
        <p:spPr>
          <a:xfrm xmlns:a="http://schemas.openxmlformats.org/drawingml/2006/main">
            <a:off x="609600" y="56102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C65A2B"/>
                </a:solidFill>
                <a:latin typeface="Trebuchet MS"/>
                <a:ea typeface="Trebuchet MS"/>
                <a:cs typeface="Trebuchet MS"/>
              </a:defRPr>
            </a:pPr>
            <a:r>
              <a:rPr sz="1950" b="1">
                <a:solidFill>
                  <a:srgbClr val="C65A2B"/>
                </a:solidFill>
                <a:latin typeface="Trebuchet MS"/>
                <a:ea typeface="Trebuchet MS"/>
                <a:cs typeface="Trebuchet MS"/>
              </a:rPr>
              <a:t>Excerpts keep unrelated opinions separate. Their accuracy needs evaluation.</a:t>
            </a:r>
          </a:p>
        </p:txBody>
      </p:sp>
    </p:spTree>
    <p:extLst>
      <p:ext uri="{BB962C8B-B14F-4D97-AF65-F5344CB8AC3E}">
        <p14:creationId xmlns:p14="http://schemas.microsoft.com/office/powerpoint/2010/main" val="3932479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125EB44-8A56-4EAD-91AA-7014705461CE}"/>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Conclusions and future work</a:t>
            </a:r>
          </a:p>
        </p:txBody>
      </p:sp>
      <p:sp>
        <p:nvSpPr>
          <p:cNvPr id="2" name="text-1">
            <a:extLst xmlns:a="http://schemas.openxmlformats.org/drawingml/2006/main">
              <a:ext uri="{FF2B5EF4-FFF2-40B4-BE49-F238E27FC236}">
                <a16:creationId xmlns:a16="http://schemas.microsoft.com/office/drawing/2014/main" id="{309180D0-ADC3-4E01-9659-32CBADF78428}"/>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ADBD1BF5-CE00-42C0-BDEF-A992AEDBBA24}"/>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13</a:t>
            </a:r>
          </a:p>
        </p:txBody>
      </p:sp>
      <p:sp>
        <p:nvSpPr>
          <p:cNvPr id="4" name="text-3">
            <a:extLst xmlns:a="http://schemas.openxmlformats.org/drawingml/2006/main">
              <a:ext uri="{FF2B5EF4-FFF2-40B4-BE49-F238E27FC236}">
                <a16:creationId xmlns:a16="http://schemas.microsoft.com/office/drawing/2014/main" id="{5D37289C-4CDB-4784-93B0-AAB91B572AFF}"/>
              </a:ext>
            </a:extLst>
          </p:cNvPr>
          <p:cNvSpPr>
            <a:spLocks xmlns:a="http://schemas.openxmlformats.org/drawingml/2006/main" noGrp="1"/>
          </p:cNvSpPr>
          <p:nvPr/>
        </p:nvSpPr>
        <p:spPr>
          <a:xfrm xmlns:a="http://schemas.openxmlformats.org/drawingml/2006/main">
            <a:off x="609600" y="1495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Working baseline</a:t>
            </a:r>
          </a:p>
        </p:txBody>
      </p:sp>
      <p:sp>
        <p:nvSpPr>
          <p:cNvPr id="5" name="text-4">
            <a:extLst xmlns:a="http://schemas.openxmlformats.org/drawingml/2006/main">
              <a:ext uri="{FF2B5EF4-FFF2-40B4-BE49-F238E27FC236}">
                <a16:creationId xmlns:a16="http://schemas.microsoft.com/office/drawing/2014/main" id="{5F835770-FA0A-4C53-B57F-DE8E73E842F5}"/>
              </a:ext>
            </a:extLst>
          </p:cNvPr>
          <p:cNvSpPr>
            <a:spLocks xmlns:a="http://schemas.openxmlformats.org/drawingml/2006/main" noGrp="1"/>
          </p:cNvSpPr>
          <p:nvPr/>
        </p:nvSpPr>
        <p:spPr>
          <a:xfrm xmlns:a="http://schemas.openxmlformats.org/drawingml/2006/main">
            <a:off x="609600" y="19050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Five trained hotel aspects plus overall sentiment.</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81.1% mean aspect accuracy with full-review input.</a:t>
            </a:r>
          </a:p>
        </p:txBody>
      </p:sp>
      <p:sp>
        <p:nvSpPr>
          <p:cNvPr id="6" name="text-5">
            <a:extLst xmlns:a="http://schemas.openxmlformats.org/drawingml/2006/main">
              <a:ext uri="{FF2B5EF4-FFF2-40B4-BE49-F238E27FC236}">
                <a16:creationId xmlns:a16="http://schemas.microsoft.com/office/drawing/2014/main" id="{C398AC63-FA9A-4D39-864F-6909DD72BEAE}"/>
              </a:ext>
            </a:extLst>
          </p:cNvPr>
          <p:cNvSpPr>
            <a:spLocks xmlns:a="http://schemas.openxmlformats.org/drawingml/2006/main" noGrp="1"/>
          </p:cNvSpPr>
          <p:nvPr/>
        </p:nvSpPr>
        <p:spPr>
          <a:xfrm xmlns:a="http://schemas.openxmlformats.org/drawingml/2006/main">
            <a:off x="609600" y="2876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Practical limits</a:t>
            </a:r>
          </a:p>
        </p:txBody>
      </p:sp>
      <p:sp>
        <p:nvSpPr>
          <p:cNvPr id="7" name="text-6">
            <a:extLst xmlns:a="http://schemas.openxmlformats.org/drawingml/2006/main">
              <a:ext uri="{FF2B5EF4-FFF2-40B4-BE49-F238E27FC236}">
                <a16:creationId xmlns:a16="http://schemas.microsoft.com/office/drawing/2014/main" id="{797D2368-B995-44BA-8076-098C2B3D2F29}"/>
              </a:ext>
            </a:extLst>
          </p:cNvPr>
          <p:cNvSpPr>
            <a:spLocks xmlns:a="http://schemas.openxmlformats.org/drawingml/2006/main" noGrp="1"/>
          </p:cNvSpPr>
          <p:nvPr/>
        </p:nvSpPr>
        <p:spPr>
          <a:xfrm xmlns:a="http://schemas.openxmlformats.org/drawingml/2006/main">
            <a:off x="609600" y="3286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Missing labels for two aspects and imperfect keyword extraction.</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Excerpt inference needs its own evaluation.</a:t>
            </a:r>
          </a:p>
        </p:txBody>
      </p:sp>
      <p:sp>
        <p:nvSpPr>
          <p:cNvPr id="8" name="text-7">
            <a:extLst xmlns:a="http://schemas.openxmlformats.org/drawingml/2006/main">
              <a:ext uri="{FF2B5EF4-FFF2-40B4-BE49-F238E27FC236}">
                <a16:creationId xmlns:a16="http://schemas.microsoft.com/office/drawing/2014/main" id="{B07986B4-1C49-4F67-BD8E-48DC76D738EC}"/>
              </a:ext>
            </a:extLst>
          </p:cNvPr>
          <p:cNvSpPr>
            <a:spLocks xmlns:a="http://schemas.openxmlformats.org/drawingml/2006/main" noGrp="1"/>
          </p:cNvSpPr>
          <p:nvPr/>
        </p:nvSpPr>
        <p:spPr>
          <a:xfrm xmlns:a="http://schemas.openxmlformats.org/drawingml/2006/main">
            <a:off x="609600" y="4257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Next experiments</a:t>
            </a:r>
          </a:p>
        </p:txBody>
      </p:sp>
      <p:sp>
        <p:nvSpPr>
          <p:cNvPr id="9" name="text-8">
            <a:extLst xmlns:a="http://schemas.openxmlformats.org/drawingml/2006/main">
              <a:ext uri="{FF2B5EF4-FFF2-40B4-BE49-F238E27FC236}">
                <a16:creationId xmlns:a16="http://schemas.microsoft.com/office/drawing/2014/main" id="{666CA2FA-7E2D-4FBA-828D-436A8E172ABE}"/>
              </a:ext>
            </a:extLst>
          </p:cNvPr>
          <p:cNvSpPr>
            <a:spLocks xmlns:a="http://schemas.openxmlformats.org/drawingml/2006/main" noGrp="1"/>
          </p:cNvSpPr>
          <p:nvPr/>
        </p:nvSpPr>
        <p:spPr>
          <a:xfrm xmlns:a="http://schemas.openxmlformats.org/drawingml/2006/main">
            <a:off x="609600" y="4667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Add independently annotated aspect sentences and missing labels.</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Test stronger aspect extraction and verified hotel groups.</a:t>
            </a:r>
          </a:p>
        </p:txBody>
      </p:sp>
    </p:spTree>
    <p:extLst>
      <p:ext uri="{BB962C8B-B14F-4D97-AF65-F5344CB8AC3E}">
        <p14:creationId xmlns:p14="http://schemas.microsoft.com/office/powerpoint/2010/main" val="1969121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C2DB354-26A0-47BE-A8E5-1D4A5B458FB1}"/>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8B5842"/>
                </a:solidFill>
                <a:latin typeface="Trebuchet MS"/>
                <a:ea typeface="Trebuchet MS"/>
                <a:cs typeface="Trebuchet MS"/>
              </a:defRPr>
            </a:pPr>
            <a:r>
              <a:rPr sz="3300" b="1">
                <a:solidFill>
                  <a:srgbClr val="8B5842"/>
                </a:solidFill>
                <a:latin typeface="Trebuchet MS"/>
                <a:ea typeface="Trebuchet MS"/>
                <a:cs typeface="Trebuchet MS"/>
              </a:rPr>
              <a:t>References and submission</a:t>
            </a:r>
          </a:p>
        </p:txBody>
      </p:sp>
      <p:sp>
        <p:nvSpPr>
          <p:cNvPr id="2" name="text-1">
            <a:extLst xmlns:a="http://schemas.openxmlformats.org/drawingml/2006/main">
              <a:ext uri="{FF2B5EF4-FFF2-40B4-BE49-F238E27FC236}">
                <a16:creationId xmlns:a16="http://schemas.microsoft.com/office/drawing/2014/main" id="{088CD44C-9C2D-4211-8718-75A5E30CFDD0}"/>
              </a:ext>
            </a:extLst>
          </p:cNvPr>
          <p:cNvSpPr>
            <a:spLocks xmlns:a="http://schemas.openxmlformats.org/drawingml/2006/main" noGrp="1"/>
          </p:cNvSpPr>
          <p:nvPr/>
        </p:nvSpPr>
        <p:spPr>
          <a:xfrm xmlns:a="http://schemas.openxmlformats.org/drawingml/2006/main">
            <a:off x="609600" y="64008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UE24CS352A    Nidhi and Nikhil.P    Section J</a:t>
            </a:r>
          </a:p>
        </p:txBody>
      </p:sp>
      <p:sp>
        <p:nvSpPr>
          <p:cNvPr id="3" name="text-2">
            <a:extLst xmlns:a="http://schemas.openxmlformats.org/drawingml/2006/main">
              <a:ext uri="{FF2B5EF4-FFF2-40B4-BE49-F238E27FC236}">
                <a16:creationId xmlns:a16="http://schemas.microsoft.com/office/drawing/2014/main" id="{9C7347BF-7345-4F01-9F5D-1DDA09994692}"/>
              </a:ext>
            </a:extLst>
          </p:cNvPr>
          <p:cNvSpPr>
            <a:spLocks xmlns:a="http://schemas.openxmlformats.org/drawingml/2006/main" noGrp="1"/>
          </p:cNvSpPr>
          <p:nvPr/>
        </p:nvSpPr>
        <p:spPr>
          <a:xfrm xmlns:a="http://schemas.openxmlformats.org/drawingml/2006/main">
            <a:off x="11049000" y="6400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66E69"/>
                </a:solidFill>
                <a:latin typeface="Trebuchet MS"/>
                <a:ea typeface="Trebuchet MS"/>
                <a:cs typeface="Trebuchet MS"/>
              </a:defRPr>
            </a:pPr>
            <a:r>
              <a:rPr sz="1125" b="0">
                <a:solidFill>
                  <a:srgbClr val="766E69"/>
                </a:solidFill>
                <a:latin typeface="Trebuchet MS"/>
                <a:ea typeface="Trebuchet MS"/>
                <a:cs typeface="Trebuchet MS"/>
              </a:rPr>
              <a:t>14</a:t>
            </a:r>
          </a:p>
        </p:txBody>
      </p:sp>
      <p:sp>
        <p:nvSpPr>
          <p:cNvPr id="4" name="text-3">
            <a:extLst xmlns:a="http://schemas.openxmlformats.org/drawingml/2006/main">
              <a:ext uri="{FF2B5EF4-FFF2-40B4-BE49-F238E27FC236}">
                <a16:creationId xmlns:a16="http://schemas.microsoft.com/office/drawing/2014/main" id="{2A57DFE1-D93B-4D1F-A26B-F19059010F9B}"/>
              </a:ext>
            </a:extLst>
          </p:cNvPr>
          <p:cNvSpPr>
            <a:spLocks xmlns:a="http://schemas.openxmlformats.org/drawingml/2006/main" noGrp="1"/>
          </p:cNvSpPr>
          <p:nvPr/>
        </p:nvSpPr>
        <p:spPr>
          <a:xfrm xmlns:a="http://schemas.openxmlformats.org/drawingml/2006/main">
            <a:off x="609600" y="1495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Reference materials</a:t>
            </a:r>
          </a:p>
        </p:txBody>
      </p:sp>
      <p:sp>
        <p:nvSpPr>
          <p:cNvPr id="5" name="text-4">
            <a:extLst xmlns:a="http://schemas.openxmlformats.org/drawingml/2006/main">
              <a:ext uri="{FF2B5EF4-FFF2-40B4-BE49-F238E27FC236}">
                <a16:creationId xmlns:a16="http://schemas.microsoft.com/office/drawing/2014/main" id="{3DD8E96E-2817-45F6-ADF5-764E5836C654}"/>
              </a:ext>
            </a:extLst>
          </p:cNvPr>
          <p:cNvSpPr>
            <a:spLocks xmlns:a="http://schemas.openxmlformats.org/drawingml/2006/main" noGrp="1"/>
          </p:cNvSpPr>
          <p:nvPr/>
        </p:nvSpPr>
        <p:spPr>
          <a:xfrm xmlns:a="http://schemas.openxmlformats.org/drawingml/2006/main">
            <a:off x="609600" y="19050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Yangyang Yu, Stanford CS229 (2016), supplied report and poster.</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Niimi hotel review dataset (2024), associated with Li et al. (2013).</a:t>
            </a:r>
          </a:p>
        </p:txBody>
      </p:sp>
      <p:sp>
        <p:nvSpPr>
          <p:cNvPr id="6" name="text-5">
            <a:extLst xmlns:a="http://schemas.openxmlformats.org/drawingml/2006/main">
              <a:ext uri="{FF2B5EF4-FFF2-40B4-BE49-F238E27FC236}">
                <a16:creationId xmlns:a16="http://schemas.microsoft.com/office/drawing/2014/main" id="{2A6DC652-A7D0-4D4B-BF9D-ED4B3EA0A1D6}"/>
              </a:ext>
            </a:extLst>
          </p:cNvPr>
          <p:cNvSpPr>
            <a:spLocks xmlns:a="http://schemas.openxmlformats.org/drawingml/2006/main" noGrp="1"/>
          </p:cNvSpPr>
          <p:nvPr/>
        </p:nvSpPr>
        <p:spPr>
          <a:xfrm xmlns:a="http://schemas.openxmlformats.org/drawingml/2006/main">
            <a:off x="609600" y="2876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Implementation references</a:t>
            </a:r>
          </a:p>
        </p:txBody>
      </p:sp>
      <p:sp>
        <p:nvSpPr>
          <p:cNvPr id="7" name="text-6">
            <a:extLst xmlns:a="http://schemas.openxmlformats.org/drawingml/2006/main">
              <a:ext uri="{FF2B5EF4-FFF2-40B4-BE49-F238E27FC236}">
                <a16:creationId xmlns:a16="http://schemas.microsoft.com/office/drawing/2014/main" id="{5F2B7E6C-CA5F-47C9-BB70-161A59048438}"/>
              </a:ext>
            </a:extLst>
          </p:cNvPr>
          <p:cNvSpPr>
            <a:spLocks xmlns:a="http://schemas.openxmlformats.org/drawingml/2006/main" noGrp="1"/>
          </p:cNvSpPr>
          <p:nvPr/>
        </p:nvSpPr>
        <p:spPr>
          <a:xfrm xmlns:a="http://schemas.openxmlformats.org/drawingml/2006/main">
            <a:off x="609600" y="3286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scikit-learn documentation for LinearSVC, F1, and data leakage.</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Measured results and provenance are included with the code.</a:t>
            </a:r>
          </a:p>
        </p:txBody>
      </p:sp>
      <p:sp>
        <p:nvSpPr>
          <p:cNvPr id="8" name="text-7">
            <a:extLst xmlns:a="http://schemas.openxmlformats.org/drawingml/2006/main">
              <a:ext uri="{FF2B5EF4-FFF2-40B4-BE49-F238E27FC236}">
                <a16:creationId xmlns:a16="http://schemas.microsoft.com/office/drawing/2014/main" id="{6BCBDFA6-3A9A-4879-898D-E9B90CE4D5E8}"/>
              </a:ext>
            </a:extLst>
          </p:cNvPr>
          <p:cNvSpPr>
            <a:spLocks xmlns:a="http://schemas.openxmlformats.org/drawingml/2006/main" noGrp="1"/>
          </p:cNvSpPr>
          <p:nvPr/>
        </p:nvSpPr>
        <p:spPr>
          <a:xfrm xmlns:a="http://schemas.openxmlformats.org/drawingml/2006/main">
            <a:off x="609600" y="4257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C65A2B"/>
                </a:solidFill>
                <a:latin typeface="Trebuchet MS"/>
                <a:ea typeface="Trebuchet MS"/>
                <a:cs typeface="Trebuchet MS"/>
              </a:defRPr>
            </a:pPr>
            <a:r>
              <a:rPr sz="2025" b="1">
                <a:solidFill>
                  <a:srgbClr val="C65A2B"/>
                </a:solidFill>
                <a:latin typeface="Trebuchet MS"/>
                <a:ea typeface="Trebuchet MS"/>
                <a:cs typeface="Trebuchet MS"/>
              </a:rPr>
              <a:t>Submission package</a:t>
            </a:r>
          </a:p>
        </p:txBody>
      </p:sp>
      <p:sp>
        <p:nvSpPr>
          <p:cNvPr id="9" name="text-8">
            <a:extLst xmlns:a="http://schemas.openxmlformats.org/drawingml/2006/main">
              <a:ext uri="{FF2B5EF4-FFF2-40B4-BE49-F238E27FC236}">
                <a16:creationId xmlns:a16="http://schemas.microsoft.com/office/drawing/2014/main" id="{649DCEED-B67D-4B67-BCCC-FB2612A4FF5A}"/>
              </a:ext>
            </a:extLst>
          </p:cNvPr>
          <p:cNvSpPr>
            <a:spLocks xmlns:a="http://schemas.openxmlformats.org/drawingml/2006/main" noGrp="1"/>
          </p:cNvSpPr>
          <p:nvPr/>
        </p:nvSpPr>
        <p:spPr>
          <a:xfrm xmlns:a="http://schemas.openxmlformats.org/drawingml/2006/main">
            <a:off x="609600" y="4667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Private GitHub source repository, two-page PDF, slides, and live demo.</a:t>
            </a:r>
          </a:p>
          <a:p xmlns:a="http://schemas.openxmlformats.org/drawingml/2006/main">
            <a:pPr>
              <a:defRPr sz="1875" b="0">
                <a:solidFill>
                  <a:srgbClr val="333333"/>
                </a:solidFill>
                <a:latin typeface="Trebuchet MS"/>
                <a:ea typeface="Trebuchet MS"/>
                <a:cs typeface="Trebuchet MS"/>
              </a:defRPr>
            </a:pPr>
            <a:r>
              <a:rPr sz="1875" b="0">
                <a:solidFill>
                  <a:srgbClr val="333333"/>
                </a:solidFill>
                <a:latin typeface="Trebuchet MS"/>
                <a:ea typeface="Trebuchet MS"/>
                <a:cs typeface="Trebuchet MS"/>
              </a:rPr>
              <a:t>Submission deadline in the guideline: October 10, 2026, 11:59 PM.</a:t>
            </a:r>
          </a:p>
        </p:txBody>
      </p:sp>
    </p:spTree>
    <p:extLst>
      <p:ext uri="{BB962C8B-B14F-4D97-AF65-F5344CB8AC3E}">
        <p14:creationId xmlns:p14="http://schemas.microsoft.com/office/powerpoint/2010/main" val="9229315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2026-10-07T13:16:28.4260000Z</dcterms:created>
  <dcterms:modified xsi:type="dcterms:W3CDTF">2026-10-07T13:16:28.4260000Z</dcterms:modified>
</coreProperties>
</file>